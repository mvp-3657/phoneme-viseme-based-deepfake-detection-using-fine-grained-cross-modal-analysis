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1pPr>
    <a:lvl2pPr marL="0" marR="0" indent="4572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2pPr>
    <a:lvl3pPr marL="0" marR="0" indent="9144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3pPr>
    <a:lvl4pPr marL="0" marR="0" indent="13716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4pPr>
    <a:lvl5pPr marL="0" marR="0" indent="18288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5pPr>
    <a:lvl6pPr marL="0" marR="0" indent="22860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6pPr>
    <a:lvl7pPr marL="0" marR="0" indent="27432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7pPr>
    <a:lvl8pPr marL="0" marR="0" indent="32004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8pPr>
    <a:lvl9pPr marL="0" marR="0" indent="36576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4" name="Shape 134"/>
          <p:cNvSpPr/>
          <p:nvPr>
            <p:ph type="sldImg"/>
          </p:nvPr>
        </p:nvSpPr>
        <p:spPr>
          <a:xfrm>
            <a:off x="1143000" y="685800"/>
            <a:ext cx="4572000" cy="3429000"/>
          </a:xfrm>
          <a:prstGeom prst="rect">
            <a:avLst/>
          </a:prstGeom>
        </p:spPr>
        <p:txBody>
          <a:bodyPr/>
          <a:lstStyle/>
          <a:p>
            <a:pPr/>
          </a:p>
        </p:txBody>
      </p:sp>
      <p:sp>
        <p:nvSpPr>
          <p:cNvPr id="135" name="Shape 1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1778000" y="2298700"/>
            <a:ext cx="20828000" cy="4648200"/>
          </a:xfrm>
          <a:prstGeom prst="rect">
            <a:avLst/>
          </a:prstGeom>
        </p:spPr>
        <p:txBody>
          <a:bodyPr anchor="b"/>
          <a:lstStyle/>
          <a:p>
            <a:pPr/>
            <a:r>
              <a:t>Title Text</a:t>
            </a:r>
          </a:p>
        </p:txBody>
      </p:sp>
      <p:sp>
        <p:nvSpPr>
          <p:cNvPr id="12" name="Body Level One…"/>
          <p:cNvSpPr txBox="1"/>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View of beach and sea from a grassy sand dune"/>
          <p:cNvSpPr/>
          <p:nvPr>
            <p:ph type="pic" idx="21"/>
          </p:nvPr>
        </p:nvSpPr>
        <p:spPr>
          <a:xfrm>
            <a:off x="3125968" y="-393700"/>
            <a:ext cx="18135601" cy="12090400"/>
          </a:xfrm>
          <a:prstGeom prst="rect">
            <a:avLst/>
          </a:prstGeom>
        </p:spPr>
        <p:txBody>
          <a:bodyPr lIns="91439" tIns="45719" rIns="91439" bIns="45719" anchor="t">
            <a:noAutofit/>
          </a:bodyPr>
          <a:lstStyle/>
          <a:p>
            <a:pPr/>
          </a:p>
        </p:txBody>
      </p:sp>
      <p:sp>
        <p:nvSpPr>
          <p:cNvPr id="21" name="Title Text"/>
          <p:cNvSpPr txBox="1"/>
          <p:nvPr>
            <p:ph type="title"/>
          </p:nvPr>
        </p:nvSpPr>
        <p:spPr>
          <a:xfrm>
            <a:off x="635000" y="9512300"/>
            <a:ext cx="23114000" cy="2006600"/>
          </a:xfrm>
          <a:prstGeom prst="rect">
            <a:avLst/>
          </a:prstGeom>
        </p:spPr>
        <p:txBody>
          <a:bodyPr anchor="b"/>
          <a:lstStyle/>
          <a:p>
            <a:pPr/>
            <a:r>
              <a:t>Title Text</a:t>
            </a:r>
          </a:p>
        </p:txBody>
      </p:sp>
      <p:sp>
        <p:nvSpPr>
          <p:cNvPr id="22" name="Body Level One…"/>
          <p:cNvSpPr txBox="1"/>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re">
    <p:spTree>
      <p:nvGrpSpPr>
        <p:cNvPr id="1" name=""/>
        <p:cNvGrpSpPr/>
        <p:nvPr/>
      </p:nvGrpSpPr>
      <p:grpSpPr>
        <a:xfrm>
          <a:off x="0" y="0"/>
          <a:ext cx="0" cy="0"/>
          <a:chOff x="0" y="0"/>
          <a:chExt cx="0" cy="0"/>
        </a:xfrm>
      </p:grpSpPr>
      <p:sp>
        <p:nvSpPr>
          <p:cNvPr id="30" name="Title Text"/>
          <p:cNvSpPr txBox="1"/>
          <p:nvPr>
            <p:ph type="title"/>
          </p:nvPr>
        </p:nvSpPr>
        <p:spPr>
          <a:xfrm>
            <a:off x="1778000" y="4533900"/>
            <a:ext cx="20828000" cy="4648200"/>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Heron flying low over a beach with a short fence in the foreground"/>
          <p:cNvSpPr/>
          <p:nvPr>
            <p:ph type="pic" sz="half" idx="21"/>
          </p:nvPr>
        </p:nvSpPr>
        <p:spPr>
          <a:xfrm>
            <a:off x="12827000" y="952500"/>
            <a:ext cx="11468100" cy="11468100"/>
          </a:xfrm>
          <a:prstGeom prst="rect">
            <a:avLst/>
          </a:prstGeom>
        </p:spPr>
        <p:txBody>
          <a:bodyPr lIns="91439" tIns="45719" rIns="91439" bIns="45719" anchor="t">
            <a:noAutofit/>
          </a:bodyPr>
          <a:lstStyle/>
          <a:p>
            <a:pPr/>
          </a:p>
        </p:txBody>
      </p:sp>
      <p:sp>
        <p:nvSpPr>
          <p:cNvPr id="39" name="Title Text"/>
          <p:cNvSpPr txBox="1"/>
          <p:nvPr>
            <p:ph type="title"/>
          </p:nvPr>
        </p:nvSpPr>
        <p:spPr>
          <a:xfrm>
            <a:off x="1651000" y="952500"/>
            <a:ext cx="10223500" cy="5549900"/>
          </a:xfrm>
          <a:prstGeom prst="rect">
            <a:avLst/>
          </a:prstGeom>
        </p:spPr>
        <p:txBody>
          <a:bodyPr anchor="b"/>
          <a:lstStyle>
            <a:lvl1pPr defTabSz="825500">
              <a:lnSpc>
                <a:spcPct val="100000"/>
              </a:lnSpc>
              <a:defRPr b="0" sz="8400">
                <a:latin typeface="+mn-lt"/>
                <a:ea typeface="+mn-ea"/>
                <a:cs typeface="+mn-cs"/>
                <a:sym typeface="Helvetica Neue Medium"/>
              </a:defRPr>
            </a:lvl1pPr>
          </a:lstStyle>
          <a:p>
            <a:pPr/>
            <a:r>
              <a:t>Title Text</a:t>
            </a:r>
          </a:p>
        </p:txBody>
      </p:sp>
      <p:sp>
        <p:nvSpPr>
          <p:cNvPr id="40" name="Body Level One…"/>
          <p:cNvSpPr txBox="1"/>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idx="1"/>
          </p:nvPr>
        </p:nvSpPr>
        <p:spPr>
          <a:prstGeom prst="rect">
            <a:avLst/>
          </a:prstGeom>
        </p:spPr>
        <p:txBody>
          <a:bodyPr/>
          <a:lstStyle>
            <a:lvl1pPr marL="638628" indent="-638628">
              <a:defRPr sz="4800"/>
            </a:lvl1pPr>
            <a:lvl2pPr marL="1264652" indent="-705852">
              <a:defRPr sz="4800"/>
            </a:lvl2pPr>
            <a:lvl3pPr marL="1823452" indent="-705852">
              <a:defRPr sz="4800"/>
            </a:lvl3pPr>
            <a:lvl4pPr marL="2382252" indent="-705852">
              <a:defRPr sz="4800"/>
            </a:lvl4pPr>
            <a:lvl5pPr marL="2941052" indent="-705852">
              <a:defRPr sz="4800"/>
            </a:lvl5p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Sandy path between two hills leading to the ocean"/>
          <p:cNvSpPr/>
          <p:nvPr>
            <p:ph type="pic" sz="half" idx="21"/>
          </p:nvPr>
        </p:nvSpPr>
        <p:spPr>
          <a:xfrm>
            <a:off x="10960100" y="3149600"/>
            <a:ext cx="13944600" cy="9296400"/>
          </a:xfrm>
          <a:prstGeom prst="rect">
            <a:avLst/>
          </a:prstGeom>
        </p:spPr>
        <p:txBody>
          <a:bodyPr lIns="91439" tIns="45719" rIns="91439" bIns="45719" anchor="t">
            <a:noAutofit/>
          </a:bodyPr>
          <a:lstStyle/>
          <a:p>
            <a:pPr/>
          </a:p>
        </p:txBody>
      </p:sp>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5" name="Title Text"/>
          <p:cNvSpPr txBox="1"/>
          <p:nvPr>
            <p:ph type="title"/>
          </p:nvPr>
        </p:nvSpPr>
        <p:spPr>
          <a:prstGeom prst="rect">
            <a:avLst/>
          </a:prstGeom>
        </p:spPr>
        <p:txBody>
          <a:bodyPr/>
          <a:lstStyle/>
          <a:p>
            <a:pPr/>
            <a:r>
              <a:t>Title Text</a:t>
            </a:r>
          </a:p>
        </p:txBody>
      </p:sp>
      <p:sp>
        <p:nvSpPr>
          <p:cNvPr id="76" name="Body Level One…"/>
          <p:cNvSpPr txBox="1"/>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pPr/>
            <a:r>
              <a:t>Body Level One</a:t>
            </a:r>
          </a:p>
          <a:p>
            <a:pPr lvl="1"/>
            <a:r>
              <a:t>Body Level Two</a:t>
            </a:r>
          </a:p>
          <a:p>
            <a:pPr lvl="2"/>
            <a:r>
              <a:t>Body Level Three</a:t>
            </a:r>
          </a:p>
          <a:p>
            <a:pPr lvl="3"/>
            <a:r>
              <a:t>Body Level Four</a:t>
            </a:r>
          </a:p>
          <a:p>
            <a:pPr lvl="4"/>
            <a:r>
              <a:t>Body Level Five</a:t>
            </a:r>
          </a:p>
        </p:txBody>
      </p:sp>
      <p:sp>
        <p:nvSpPr>
          <p:cNvPr id="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4" name="Title Text"/>
          <p:cNvSpPr txBox="1"/>
          <p:nvPr>
            <p:ph type="title"/>
          </p:nvPr>
        </p:nvSpPr>
        <p:spPr>
          <a:prstGeom prst="rect">
            <a:avLst/>
          </a:prstGeom>
        </p:spPr>
        <p:txBody>
          <a:bodyPr/>
          <a:lstStyle/>
          <a:p>
            <a:pPr/>
            <a:r>
              <a:t>Title Text</a:t>
            </a:r>
          </a:p>
        </p:txBody>
      </p:sp>
      <p:sp>
        <p:nvSpPr>
          <p:cNvPr id="85" name="Body Level One…"/>
          <p:cNvSpPr txBox="1"/>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pPr/>
            <a:r>
              <a:t>Body Level One</a:t>
            </a:r>
          </a:p>
          <a:p>
            <a:pPr lvl="1"/>
            <a:r>
              <a:t>Body Level Two</a:t>
            </a:r>
          </a:p>
          <a:p>
            <a:pPr lvl="2"/>
            <a:r>
              <a:t>Body Level Three</a:t>
            </a:r>
          </a:p>
          <a:p>
            <a:pPr lvl="3"/>
            <a:r>
              <a:t>Body Level Four</a:t>
            </a:r>
          </a:p>
          <a:p>
            <a:pPr lvl="4"/>
            <a:r>
              <a:t>Body Level Five</a:t>
            </a: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93" name="Body Level One…"/>
          <p:cNvSpPr txBox="1"/>
          <p:nvPr>
            <p:ph type="body" idx="1"/>
          </p:nvPr>
        </p:nvSpPr>
        <p:spPr>
          <a:xfrm>
            <a:off x="1689100" y="1778000"/>
            <a:ext cx="21005800" cy="10160000"/>
          </a:xfrm>
          <a:prstGeom prst="rect">
            <a:avLst/>
          </a:prstGeom>
        </p:spPr>
        <p:txBody>
          <a:bodyPr/>
          <a:lstStyle>
            <a:lvl1pPr marL="638628" indent="-638628">
              <a:defRPr sz="4800"/>
            </a:lvl1pPr>
            <a:lvl2pPr marL="1264652" indent="-705852">
              <a:defRPr sz="4800"/>
            </a:lvl2pPr>
            <a:lvl3pPr marL="1823452" indent="-705852">
              <a:defRPr sz="4800"/>
            </a:lvl3pPr>
            <a:lvl4pPr marL="2382252" indent="-705852">
              <a:defRPr sz="4800"/>
            </a:lvl4pPr>
            <a:lvl5pPr marL="2941052" indent="-705852">
              <a:defRPr sz="4800"/>
            </a:lvl5p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01" name="Sandy path between two hills leading to the ocean"/>
          <p:cNvSpPr/>
          <p:nvPr>
            <p:ph type="pic" sz="quarter" idx="21"/>
          </p:nvPr>
        </p:nvSpPr>
        <p:spPr>
          <a:xfrm>
            <a:off x="15300325" y="7048500"/>
            <a:ext cx="8324850" cy="5549900"/>
          </a:xfrm>
          <a:prstGeom prst="rect">
            <a:avLst/>
          </a:prstGeom>
        </p:spPr>
        <p:txBody>
          <a:bodyPr lIns="91439" tIns="45719" rIns="91439" bIns="45719" anchor="t">
            <a:noAutofit/>
          </a:bodyPr>
          <a:lstStyle/>
          <a:p>
            <a:pPr/>
          </a:p>
        </p:txBody>
      </p:sp>
      <p:sp>
        <p:nvSpPr>
          <p:cNvPr id="102" name="Heron flying low over a beach with a short fence in the foreground"/>
          <p:cNvSpPr/>
          <p:nvPr>
            <p:ph type="pic" sz="quarter" idx="22"/>
          </p:nvPr>
        </p:nvSpPr>
        <p:spPr>
          <a:xfrm>
            <a:off x="15760700" y="863600"/>
            <a:ext cx="7404100" cy="7404100"/>
          </a:xfrm>
          <a:prstGeom prst="rect">
            <a:avLst/>
          </a:prstGeom>
        </p:spPr>
        <p:txBody>
          <a:bodyPr lIns="91439" tIns="45719" rIns="91439" bIns="45719" anchor="t">
            <a:noAutofit/>
          </a:bodyPr>
          <a:lstStyle/>
          <a:p>
            <a:pPr/>
          </a:p>
        </p:txBody>
      </p:sp>
      <p:sp>
        <p:nvSpPr>
          <p:cNvPr id="103" name="View of beach and sea from a grassy sand dune"/>
          <p:cNvSpPr/>
          <p:nvPr>
            <p:ph type="pic" idx="23"/>
          </p:nvPr>
        </p:nvSpPr>
        <p:spPr>
          <a:xfrm>
            <a:off x="-990600" y="1130300"/>
            <a:ext cx="17202150" cy="11468100"/>
          </a:xfrm>
          <a:prstGeom prst="rect">
            <a:avLst/>
          </a:prstGeom>
        </p:spPr>
        <p:txBody>
          <a:bodyPr lIns="91439" tIns="45719" rIns="91439" bIns="45719" anchor="t">
            <a:noAutofit/>
          </a:bodyPr>
          <a:lstStyle/>
          <a:p>
            <a:pPr/>
          </a:p>
        </p:txBody>
      </p:sp>
      <p:sp>
        <p:nvSpPr>
          <p:cNvPr id="1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1" name="–Johnny Appleseed"/>
          <p:cNvSpPr txBox="1"/>
          <p:nvPr>
            <p:ph type="body" sz="quarter" idx="21"/>
          </p:nvPr>
        </p:nvSpPr>
        <p:spPr>
          <a:xfrm>
            <a:off x="2387600" y="8953500"/>
            <a:ext cx="19621500" cy="585521"/>
          </a:xfrm>
          <a:prstGeom prst="rect">
            <a:avLst/>
          </a:prstGeom>
        </p:spPr>
        <p:txBody>
          <a:bodyPr anchor="t">
            <a:spAutoFit/>
          </a:bodyPr>
          <a:lstStyle>
            <a:lvl1pPr marL="0" indent="0" algn="ctr">
              <a:spcBef>
                <a:spcPts val="0"/>
              </a:spcBef>
              <a:buSzTx/>
              <a:buNone/>
              <a:defRPr i="1" sz="3200"/>
            </a:lvl1pPr>
          </a:lstStyle>
          <a:p>
            <a:pPr/>
            <a:r>
              <a:t>–Johnny Appleseed</a:t>
            </a:r>
          </a:p>
        </p:txBody>
      </p:sp>
      <p:sp>
        <p:nvSpPr>
          <p:cNvPr id="112" name="“Type a quote here.”"/>
          <p:cNvSpPr txBox="1"/>
          <p:nvPr>
            <p:ph type="body" sz="quarter" idx="22"/>
          </p:nvPr>
        </p:nvSpPr>
        <p:spPr>
          <a:xfrm>
            <a:off x="2387600" y="6076950"/>
            <a:ext cx="19621500" cy="825500"/>
          </a:xfrm>
          <a:prstGeom prst="rect">
            <a:avLst/>
          </a:prstGeom>
        </p:spPr>
        <p:txBody>
          <a:bodyPr>
            <a:spAutoFit/>
          </a:bodyPr>
          <a:lstStyle>
            <a:lvl1pPr marL="0" indent="0" algn="ctr">
              <a:spcBef>
                <a:spcPts val="0"/>
              </a:spcBef>
              <a:buSzTx/>
              <a:buNone/>
              <a:defRPr sz="4800">
                <a:latin typeface="+mn-lt"/>
                <a:ea typeface="+mn-ea"/>
                <a:cs typeface="+mn-cs"/>
                <a:sym typeface="Helvetica Neue Medium"/>
              </a:defRPr>
            </a:lvl1pPr>
          </a:lstStyle>
          <a:p>
            <a:pPr/>
            <a:r>
              <a:t>“Type a quote here.” </a:t>
            </a:r>
          </a:p>
        </p:txBody>
      </p:sp>
      <p:sp>
        <p:nvSpPr>
          <p:cNvPr id="1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20" name="View of beach and sea from a grassy sand dune"/>
          <p:cNvSpPr/>
          <p:nvPr>
            <p:ph type="pic" idx="21"/>
          </p:nvPr>
        </p:nvSpPr>
        <p:spPr>
          <a:xfrm>
            <a:off x="-50800" y="-1270000"/>
            <a:ext cx="24485600" cy="16323734"/>
          </a:xfrm>
          <a:prstGeom prst="rect">
            <a:avLst/>
          </a:prstGeom>
        </p:spPr>
        <p:txBody>
          <a:bodyPr lIns="91439" tIns="45719" rIns="91439" bIns="45719" anchor="t">
            <a:noAutofit/>
          </a:bodyPr>
          <a:lstStyle/>
          <a:p>
            <a:pP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Body Level One…"/>
          <p:cNvSpPr txBox="1"/>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lgn="ctr">
              <a:spcBef>
                <a:spcPts val="0"/>
              </a:spcBef>
              <a:defRPr sz="24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1pPr>
      <a:lvl2pPr marL="0" marR="0" indent="4572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2pPr>
      <a:lvl3pPr marL="0" marR="0" indent="9144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3pPr>
      <a:lvl4pPr marL="0" marR="0" indent="13716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4pPr>
      <a:lvl5pPr marL="0" marR="0" indent="18288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5pPr>
      <a:lvl6pPr marL="0" marR="0" indent="22860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6pPr>
      <a:lvl7pPr marL="0" marR="0" indent="27432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7pPr>
      <a:lvl8pPr marL="0" marR="0" indent="32004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8pPr>
      <a:lvl9pPr marL="0" marR="0" indent="3657600" algn="ctr" defTabSz="914400" rtl="0" latinLnBrk="0">
        <a:lnSpc>
          <a:spcPct val="90000"/>
        </a:lnSpc>
        <a:spcBef>
          <a:spcPts val="0"/>
        </a:spcBef>
        <a:spcAft>
          <a:spcPts val="0"/>
        </a:spcAft>
        <a:buClrTx/>
        <a:buSzTx/>
        <a:buFontTx/>
        <a:buNone/>
        <a:tabLst/>
        <a:defRPr b="1" baseline="0" cap="none" i="0" spc="0" strike="noStrike" sz="8200" u="none">
          <a:solidFill>
            <a:srgbClr val="000000"/>
          </a:solidFill>
          <a:uFillTx/>
          <a:latin typeface="+mj-lt"/>
          <a:ea typeface="+mj-ea"/>
          <a:cs typeface="+mj-cs"/>
          <a:sym typeface="Times New Roman"/>
        </a:defRPr>
      </a:lvl9pPr>
    </p:titleStyle>
    <p:bodyStyle>
      <a:lvl1pPr marL="635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1pPr>
      <a:lvl2pPr marL="11938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2pPr>
      <a:lvl3pPr marL="17526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3pPr>
      <a:lvl4pPr marL="23114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4pPr>
      <a:lvl5pPr marL="28702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5pPr>
      <a:lvl6pPr marL="3429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6pPr>
      <a:lvl7pPr marL="39878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7pPr>
      <a:lvl8pPr marL="45466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8pPr>
      <a:lvl9pPr marL="51054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9pPr>
    </p:bodyStyle>
    <p:otherStyle>
      <a:lvl1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1pPr>
      <a:lvl2pPr marL="0" marR="0" indent="4572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2pPr>
      <a:lvl3pPr marL="0" marR="0" indent="9144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3pPr>
      <a:lvl4pPr marL="0" marR="0" indent="13716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4pPr>
      <a:lvl5pPr marL="0" marR="0" indent="18288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5pPr>
      <a:lvl6pPr marL="0" marR="0" indent="22860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6pPr>
      <a:lvl7pPr marL="0" marR="0" indent="27432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7pPr>
      <a:lvl8pPr marL="0" marR="0" indent="32004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8pPr>
      <a:lvl9pPr marL="0" marR="0" indent="36576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8.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image" Target="../media/image10.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Phoneme–Viseme Based Deepfake Detection Using Fine-Grained Cross-Modal Analysis"/>
          <p:cNvSpPr txBox="1"/>
          <p:nvPr>
            <p:ph type="ctrTitle"/>
          </p:nvPr>
        </p:nvSpPr>
        <p:spPr>
          <a:prstGeom prst="rect">
            <a:avLst/>
          </a:prstGeom>
        </p:spPr>
        <p:txBody>
          <a:bodyPr/>
          <a:lstStyle>
            <a:lvl1pPr>
              <a:lnSpc>
                <a:spcPct val="100000"/>
              </a:lnSpc>
              <a:defRPr sz="8600"/>
            </a:lvl1pPr>
          </a:lstStyle>
          <a:p>
            <a:pPr/>
            <a:r>
              <a:t>Phoneme–Viseme Based Deepfake Detection Using Fine-Grained Cross-Modal Analysis</a:t>
            </a:r>
          </a:p>
        </p:txBody>
      </p:sp>
      <p:sp>
        <p:nvSpPr>
          <p:cNvPr id="138" name="Paper ID: 771…"/>
          <p:cNvSpPr txBox="1"/>
          <p:nvPr>
            <p:ph type="subTitle" sz="half" idx="1"/>
          </p:nvPr>
        </p:nvSpPr>
        <p:spPr>
          <a:xfrm>
            <a:off x="1778000" y="7073900"/>
            <a:ext cx="21107400" cy="5435600"/>
          </a:xfrm>
          <a:prstGeom prst="rect">
            <a:avLst/>
          </a:prstGeom>
        </p:spPr>
        <p:txBody>
          <a:bodyPr/>
          <a:lstStyle/>
          <a:p>
            <a:pPr algn="l" defTabSz="914400">
              <a:spcBef>
                <a:spcPts val="1000"/>
              </a:spcBef>
              <a:defRPr sz="4200">
                <a:latin typeface="+mj-lt"/>
                <a:ea typeface="+mj-ea"/>
                <a:cs typeface="+mj-cs"/>
                <a:sym typeface="Times New Roman"/>
              </a:defRPr>
            </a:pPr>
            <a:endParaRPr b="1"/>
          </a:p>
          <a:p>
            <a:pPr defTabSz="914400">
              <a:spcBef>
                <a:spcPts val="1000"/>
              </a:spcBef>
              <a:defRPr b="1" sz="4200">
                <a:latin typeface="+mj-lt"/>
                <a:ea typeface="+mj-ea"/>
                <a:cs typeface="+mj-cs"/>
                <a:sym typeface="Times New Roman"/>
              </a:defRPr>
            </a:pPr>
            <a:r>
              <a:t>Paper ID: 771</a:t>
            </a:r>
          </a:p>
          <a:p>
            <a:pPr defTabSz="914400">
              <a:spcBef>
                <a:spcPts val="1000"/>
              </a:spcBef>
              <a:defRPr b="1" sz="4200">
                <a:latin typeface="+mj-lt"/>
                <a:ea typeface="+mj-ea"/>
                <a:cs typeface="+mj-cs"/>
                <a:sym typeface="Times New Roman"/>
              </a:defRPr>
            </a:pPr>
            <a:r>
              <a:t>Presenter: Kateghar Tilak</a:t>
            </a:r>
          </a:p>
          <a:p>
            <a:pPr defTabSz="914400">
              <a:spcBef>
                <a:spcPts val="1000"/>
              </a:spcBef>
              <a:defRPr b="1" sz="4200">
                <a:latin typeface="+mj-lt"/>
                <a:ea typeface="+mj-ea"/>
                <a:cs typeface="+mj-cs"/>
                <a:sym typeface="Times New Roman"/>
              </a:defRPr>
            </a:pPr>
            <a:r>
              <a:t>Srikanth Cherukuvada, Usha Aluru, Kateghar Tilak, Kasanagottu Sai Maniteja, Mallikarjun Patil, Paidi Geethika</a:t>
            </a:r>
          </a:p>
          <a:p>
            <a:pPr defTabSz="914400">
              <a:spcBef>
                <a:spcPts val="1000"/>
              </a:spcBef>
              <a:defRPr b="1" sz="4200">
                <a:latin typeface="+mj-lt"/>
                <a:ea typeface="+mj-ea"/>
                <a:cs typeface="+mj-cs"/>
                <a:sym typeface="Times New Roman"/>
              </a:defRPr>
            </a:pPr>
            <a:r>
              <a:t>Department of CSE (AI &amp; ML)</a:t>
            </a:r>
          </a:p>
          <a:p>
            <a:pPr defTabSz="914400">
              <a:spcBef>
                <a:spcPts val="1000"/>
              </a:spcBef>
              <a:defRPr b="1" sz="4200">
                <a:latin typeface="+mj-lt"/>
                <a:ea typeface="+mj-ea"/>
                <a:cs typeface="+mj-cs"/>
                <a:sym typeface="Times New Roman"/>
              </a:defRPr>
            </a:pPr>
            <a:r>
              <a:t>Padmasri Dr. B V Raju Institute of Technology, Narsapur, Medak, Telangana, India, 502313</a:t>
            </a:r>
          </a:p>
        </p:txBody>
      </p:sp>
      <p:sp>
        <p:nvSpPr>
          <p:cNvPr id="139" name="Google Shape;84;p13"/>
          <p:cNvSpPr txBox="1"/>
          <p:nvPr/>
        </p:nvSpPr>
        <p:spPr>
          <a:xfrm>
            <a:off x="1778000" y="1778000"/>
            <a:ext cx="20828000" cy="190500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b">
            <a:normAutofit fontScale="100000" lnSpcReduction="0"/>
          </a:bodyPr>
          <a:lstStyle/>
          <a:p>
            <a:pPr algn="ctr" defTabSz="466344">
              <a:spcBef>
                <a:spcPts val="0"/>
              </a:spcBef>
              <a:defRPr b="1" sz="4182">
                <a:latin typeface="+mj-lt"/>
                <a:ea typeface="+mj-ea"/>
                <a:cs typeface="+mj-cs"/>
                <a:sym typeface="Times New Roman"/>
              </a:defRPr>
            </a:pPr>
            <a:r>
              <a:t>3rd International Conference on Computing and Machine Learning (CML 2026) </a:t>
            </a:r>
          </a:p>
          <a:p>
            <a:pPr algn="ctr" defTabSz="466344">
              <a:spcBef>
                <a:spcPts val="0"/>
              </a:spcBef>
              <a:defRPr b="1" sz="4182">
                <a:latin typeface="+mj-lt"/>
                <a:ea typeface="+mj-ea"/>
                <a:cs typeface="+mj-cs"/>
                <a:sym typeface="Times New Roman"/>
              </a:defRPr>
            </a:pPr>
            <a:r>
              <a:t>March 8, 2026 | Online Presentation </a:t>
            </a:r>
          </a:p>
          <a:p>
            <a:pPr algn="ctr" defTabSz="466344">
              <a:spcBef>
                <a:spcPts val="0"/>
              </a:spcBef>
              <a:defRPr b="1" sz="4182">
                <a:latin typeface="+mj-lt"/>
                <a:ea typeface="+mj-ea"/>
                <a:cs typeface="+mj-cs"/>
                <a:sym typeface="Times New Roman"/>
              </a:defRPr>
            </a:pPr>
            <a:r>
              <a:t>Sikkim Manipal University, Sikkim, India</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Problem Statement"/>
          <p:cNvSpPr txBox="1"/>
          <p:nvPr>
            <p:ph type="title"/>
          </p:nvPr>
        </p:nvSpPr>
        <p:spPr>
          <a:prstGeom prst="rect">
            <a:avLst/>
          </a:prstGeom>
        </p:spPr>
        <p:txBody>
          <a:bodyPr/>
          <a:lstStyle/>
          <a:p>
            <a:pPr/>
            <a:r>
              <a:t>Problem Statement</a:t>
            </a:r>
          </a:p>
        </p:txBody>
      </p:sp>
      <p:sp>
        <p:nvSpPr>
          <p:cNvPr id="142" name="The state-of-the-art in deep fake technology has improved to such a level that audio-visual videos are created that are indistinguishable from real ones. These advanced deep fake technologies have the capability to ensure that the audio and video are syn"/>
          <p:cNvSpPr txBox="1"/>
          <p:nvPr>
            <p:ph type="body" idx="1"/>
          </p:nvPr>
        </p:nvSpPr>
        <p:spPr>
          <a:prstGeom prst="rect">
            <a:avLst/>
          </a:prstGeom>
        </p:spPr>
        <p:txBody>
          <a:bodyPr anchor="t"/>
          <a:lstStyle/>
          <a:p>
            <a:pPr marL="577850" indent="-577850" defTabSz="751205">
              <a:spcBef>
                <a:spcPts val="5300"/>
              </a:spcBef>
              <a:defRPr sz="3822">
                <a:latin typeface="+mj-lt"/>
                <a:ea typeface="+mj-ea"/>
                <a:cs typeface="+mj-cs"/>
                <a:sym typeface="Times New Roman"/>
              </a:defRPr>
            </a:pPr>
            <a:r>
              <a:t>The state-of-the-art in deep fake technology has improved to such a level that audio-visual videos are created that are indistinguishable from real ones. These advanced deep fake technologies have the capability to ensure that the audio and video are synchronized over the entire length of the video. This makes the traditional visual artifact-based approaches ineffective in detecting deep fake videos.</a:t>
            </a:r>
          </a:p>
          <a:p>
            <a:pPr marL="577850" indent="-577850" defTabSz="751205">
              <a:spcBef>
                <a:spcPts val="5300"/>
              </a:spcBef>
              <a:defRPr sz="3822">
                <a:latin typeface="+mj-lt"/>
                <a:ea typeface="+mj-ea"/>
                <a:cs typeface="+mj-cs"/>
                <a:sym typeface="Times New Roman"/>
              </a:defRPr>
            </a:pPr>
            <a:r>
              <a:t>The traditional approaches to deep fake video detection were based on single-modal analysis. These approaches were based on detecting facial or audio anomalies in the video. However, these approaches are not effective when the audio and video in the video are jointly synthesized to a high level of quality.</a:t>
            </a:r>
          </a:p>
          <a:p>
            <a:pPr marL="577850" indent="-577850" defTabSz="751205">
              <a:spcBef>
                <a:spcPts val="5300"/>
              </a:spcBef>
              <a:defRPr sz="3822">
                <a:latin typeface="+mj-lt"/>
                <a:ea typeface="+mj-ea"/>
                <a:cs typeface="+mj-cs"/>
                <a:sym typeface="Times New Roman"/>
              </a:defRPr>
            </a:pPr>
            <a:r>
              <a:t>Even in videos that are synchronized to a high level, there are usually small inconsistencies in phonemes and visemes. These inconsistencies are hard to detect for humans but can be captured using fine-grained computational models.</a:t>
            </a:r>
          </a:p>
          <a:p>
            <a:pPr marL="577850" indent="-577850" defTabSz="751205">
              <a:spcBef>
                <a:spcPts val="5300"/>
              </a:spcBef>
              <a:defRPr sz="3822">
                <a:latin typeface="+mj-lt"/>
                <a:ea typeface="+mj-ea"/>
                <a:cs typeface="+mj-cs"/>
                <a:sym typeface="Times New Roman"/>
              </a:defRPr>
            </a:pPr>
            <a:r>
              <a:t>The challenge is to build a system that captures these small phoneme and viseme inconsistencies rather than relying on coarse synchronization or fusion-based approaches.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Proposed Solution"/>
          <p:cNvSpPr txBox="1"/>
          <p:nvPr>
            <p:ph type="title"/>
          </p:nvPr>
        </p:nvSpPr>
        <p:spPr>
          <a:prstGeom prst="rect">
            <a:avLst/>
          </a:prstGeom>
        </p:spPr>
        <p:txBody>
          <a:bodyPr/>
          <a:lstStyle/>
          <a:p>
            <a:pPr/>
            <a:r>
              <a:t>Proposed Solution</a:t>
            </a:r>
          </a:p>
        </p:txBody>
      </p:sp>
      <p:sp>
        <p:nvSpPr>
          <p:cNvPr id="145" name="This work proposes a phoneme–viseme based deepfake detection framework that models the interaction between speech and corresponding lip movements at a fine-grained level.…"/>
          <p:cNvSpPr txBox="1"/>
          <p:nvPr>
            <p:ph type="body" idx="1"/>
          </p:nvPr>
        </p:nvSpPr>
        <p:spPr>
          <a:xfrm>
            <a:off x="1689100" y="3149600"/>
            <a:ext cx="21005800" cy="9296400"/>
          </a:xfrm>
          <a:prstGeom prst="rect">
            <a:avLst/>
          </a:prstGeom>
        </p:spPr>
        <p:txBody>
          <a:bodyPr anchor="t"/>
          <a:lstStyle/>
          <a:p>
            <a:pPr marL="530859" indent="-530859" defTabSz="784225">
              <a:spcBef>
                <a:spcPts val="4200"/>
              </a:spcBef>
              <a:defRPr sz="4370">
                <a:latin typeface="+mj-lt"/>
                <a:ea typeface="+mj-ea"/>
                <a:cs typeface="+mj-cs"/>
                <a:sym typeface="Times New Roman"/>
              </a:defRPr>
            </a:pPr>
            <a:r>
              <a:t>This work proposes a phoneme–viseme based deepfake detection framework that models the interaction between speech and corresponding lip movements at a fine-grained level.</a:t>
            </a:r>
          </a:p>
          <a:p>
            <a:pPr marL="530859" indent="-530859" defTabSz="784225">
              <a:spcBef>
                <a:spcPts val="4200"/>
              </a:spcBef>
              <a:defRPr sz="4370">
                <a:latin typeface="+mj-lt"/>
                <a:ea typeface="+mj-ea"/>
                <a:cs typeface="+mj-cs"/>
                <a:sym typeface="Times New Roman"/>
              </a:defRPr>
            </a:pPr>
            <a:r>
              <a:t>The proposed method extracts phoneme-aware audio representations using a pretrained Wav2Vec 2.0 model and viseme-oriented visual features using a ResNet-18 backbone.</a:t>
            </a:r>
          </a:p>
          <a:p>
            <a:pPr marL="530859" indent="-530859" defTabSz="784225">
              <a:spcBef>
                <a:spcPts val="4200"/>
              </a:spcBef>
              <a:defRPr sz="4370">
                <a:latin typeface="+mj-lt"/>
                <a:ea typeface="+mj-ea"/>
                <a:cs typeface="+mj-cs"/>
                <a:sym typeface="Times New Roman"/>
              </a:defRPr>
            </a:pPr>
            <a:r>
              <a:t>The audio and visual streams are temporally aligned to ensure that each speech segment corresponds to the correct visual frame.</a:t>
            </a:r>
          </a:p>
          <a:p>
            <a:pPr marL="530859" indent="-530859" defTabSz="784225">
              <a:spcBef>
                <a:spcPts val="4200"/>
              </a:spcBef>
              <a:defRPr sz="4370">
                <a:latin typeface="+mj-lt"/>
                <a:ea typeface="+mj-ea"/>
                <a:cs typeface="+mj-cs"/>
                <a:sym typeface="Times New Roman"/>
              </a:defRPr>
            </a:pPr>
            <a:r>
              <a:t>A cross-modal attention mechanism is then applied to learn the relationship between phoneme embeddings and viseme embeddings. This enables the model to identify inconsistencies between spoken words and mouth articulation.</a:t>
            </a:r>
          </a:p>
          <a:p>
            <a:pPr marL="530859" indent="-530859" defTabSz="784225">
              <a:spcBef>
                <a:spcPts val="4200"/>
              </a:spcBef>
              <a:defRPr sz="4370">
                <a:latin typeface="+mj-lt"/>
                <a:ea typeface="+mj-ea"/>
                <a:cs typeface="+mj-cs"/>
                <a:sym typeface="Times New Roman"/>
              </a:defRPr>
            </a:pPr>
            <a:r>
              <a:t>Finally, the aligned cross-modal representation is used for binary classification to determine whether the video is real or fake.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Methodology"/>
          <p:cNvSpPr txBox="1"/>
          <p:nvPr>
            <p:ph type="title"/>
          </p:nvPr>
        </p:nvSpPr>
        <p:spPr>
          <a:prstGeom prst="rect">
            <a:avLst/>
          </a:prstGeom>
        </p:spPr>
        <p:txBody>
          <a:bodyPr/>
          <a:lstStyle/>
          <a:p>
            <a:pPr/>
            <a:r>
              <a:t>Methodology</a:t>
            </a:r>
          </a:p>
        </p:txBody>
      </p:sp>
      <p:pic>
        <p:nvPicPr>
          <p:cNvPr id="148" name="cross_modal_attention.png" descr="cross_modal_attention.png"/>
          <p:cNvPicPr>
            <a:picLocks noChangeAspect="1"/>
          </p:cNvPicPr>
          <p:nvPr/>
        </p:nvPicPr>
        <p:blipFill>
          <a:blip r:embed="rId2">
            <a:extLst/>
          </a:blip>
          <a:srcRect l="0" t="3553" r="0" b="21354"/>
          <a:stretch>
            <a:fillRect/>
          </a:stretch>
        </p:blipFill>
        <p:spPr>
          <a:xfrm>
            <a:off x="15112999" y="3149600"/>
            <a:ext cx="9580967" cy="9857628"/>
          </a:xfrm>
          <a:prstGeom prst="rect">
            <a:avLst/>
          </a:prstGeom>
          <a:ln w="12700">
            <a:miter lim="400000"/>
          </a:ln>
        </p:spPr>
      </p:pic>
      <p:sp>
        <p:nvSpPr>
          <p:cNvPr id="149" name="The proposed architecture consists of the following stages:…"/>
          <p:cNvSpPr txBox="1"/>
          <p:nvPr>
            <p:ph type="body" sz="half" idx="1"/>
          </p:nvPr>
        </p:nvSpPr>
        <p:spPr>
          <a:xfrm>
            <a:off x="1689100" y="3149600"/>
            <a:ext cx="13462000" cy="9296400"/>
          </a:xfrm>
          <a:prstGeom prst="rect">
            <a:avLst/>
          </a:prstGeom>
        </p:spPr>
        <p:txBody>
          <a:bodyPr anchor="t"/>
          <a:lstStyle/>
          <a:p>
            <a:pPr marL="558800" indent="-558800" defTabSz="457200">
              <a:spcBef>
                <a:spcPts val="1200"/>
              </a:spcBef>
              <a:defRPr sz="4200">
                <a:latin typeface="+mj-lt"/>
                <a:ea typeface="+mj-ea"/>
                <a:cs typeface="+mj-cs"/>
                <a:sym typeface="Times New Roman"/>
              </a:defRPr>
            </a:pPr>
            <a:r>
              <a:t>The proposed architecture consists of the following stages:</a:t>
            </a:r>
          </a:p>
          <a:p>
            <a:pPr lvl="1" marL="1190625" indent="-555625" defTabSz="457200">
              <a:spcBef>
                <a:spcPts val="1200"/>
              </a:spcBef>
              <a:buSzPct val="50000"/>
              <a:buBlip>
                <a:blip r:embed="rId3"/>
              </a:buBlip>
              <a:defRPr sz="4200">
                <a:latin typeface="+mj-lt"/>
                <a:ea typeface="+mj-ea"/>
                <a:cs typeface="+mj-cs"/>
                <a:sym typeface="Times New Roman"/>
              </a:defRPr>
            </a:pPr>
            <a:r>
              <a:t>Metadata creation and dataset preparation.</a:t>
            </a:r>
          </a:p>
          <a:p>
            <a:pPr lvl="1" marL="1190625" indent="-555625" defTabSz="457200">
              <a:spcBef>
                <a:spcPts val="1200"/>
              </a:spcBef>
              <a:buSzPct val="50000"/>
              <a:buBlip>
                <a:blip r:embed="rId3"/>
              </a:buBlip>
              <a:defRPr sz="4200">
                <a:latin typeface="+mj-lt"/>
                <a:ea typeface="+mj-ea"/>
                <a:cs typeface="+mj-cs"/>
                <a:sym typeface="Times New Roman"/>
              </a:defRPr>
            </a:pPr>
            <a:r>
              <a:t>Audio feature extraction using Wav2Vec 2.0.</a:t>
            </a:r>
          </a:p>
          <a:p>
            <a:pPr lvl="1" marL="1190625" indent="-555625" defTabSz="457200">
              <a:spcBef>
                <a:spcPts val="1200"/>
              </a:spcBef>
              <a:buSzPct val="50000"/>
              <a:buBlip>
                <a:blip r:embed="rId3"/>
              </a:buBlip>
              <a:defRPr sz="4200">
                <a:latin typeface="+mj-lt"/>
                <a:ea typeface="+mj-ea"/>
                <a:cs typeface="+mj-cs"/>
                <a:sym typeface="Times New Roman"/>
              </a:defRPr>
            </a:pPr>
            <a:r>
              <a:t>Visual feature extraction focusing on the mouth region.</a:t>
            </a:r>
          </a:p>
          <a:p>
            <a:pPr lvl="1" marL="1190625" indent="-555625" defTabSz="457200">
              <a:spcBef>
                <a:spcPts val="1200"/>
              </a:spcBef>
              <a:buSzPct val="50000"/>
              <a:buBlip>
                <a:blip r:embed="rId3"/>
              </a:buBlip>
              <a:defRPr sz="4200">
                <a:latin typeface="+mj-lt"/>
                <a:ea typeface="+mj-ea"/>
                <a:cs typeface="+mj-cs"/>
                <a:sym typeface="Times New Roman"/>
              </a:defRPr>
            </a:pPr>
            <a:r>
              <a:t>Temporal alignment between audio and visual embeddings.</a:t>
            </a:r>
          </a:p>
          <a:p>
            <a:pPr lvl="1" marL="1190625" indent="-555625" defTabSz="457200">
              <a:spcBef>
                <a:spcPts val="1200"/>
              </a:spcBef>
              <a:buSzPct val="50000"/>
              <a:buBlip>
                <a:blip r:embed="rId3"/>
              </a:buBlip>
              <a:defRPr sz="4200">
                <a:latin typeface="+mj-lt"/>
                <a:ea typeface="+mj-ea"/>
                <a:cs typeface="+mj-cs"/>
                <a:sym typeface="Times New Roman"/>
              </a:defRPr>
            </a:pPr>
            <a:r>
              <a:t>Cross-modal attention to capture phoneme–viseme correspondence.</a:t>
            </a:r>
          </a:p>
          <a:p>
            <a:pPr marL="558800" indent="-558800" defTabSz="457200">
              <a:spcBef>
                <a:spcPts val="1200"/>
              </a:spcBef>
              <a:defRPr sz="4200">
                <a:latin typeface="+mj-lt"/>
                <a:ea typeface="+mj-ea"/>
                <a:cs typeface="+mj-cs"/>
                <a:sym typeface="Times New Roman"/>
              </a:defRPr>
            </a:pPr>
            <a:r>
              <a:t>Binary classification using fully connected layers.</a:t>
            </a:r>
          </a:p>
          <a:p>
            <a:pPr marL="558800" indent="-558800" defTabSz="457200">
              <a:spcBef>
                <a:spcPts val="1200"/>
              </a:spcBef>
              <a:defRPr sz="4200">
                <a:latin typeface="+mj-lt"/>
                <a:ea typeface="+mj-ea"/>
                <a:cs typeface="+mj-cs"/>
                <a:sym typeface="Times New Roman"/>
              </a:defRPr>
            </a:pPr>
            <a:r>
              <a:t>The framework focuses on modeling articulation consistency rather than global synchronization.</a:t>
            </a:r>
          </a:p>
        </p:txBody>
      </p:sp>
      <p:sp>
        <p:nvSpPr>
          <p:cNvPr id="150" name="Fig. 1. Phoneme-Viseme Based Deepfake Detection Framework"/>
          <p:cNvSpPr txBox="1"/>
          <p:nvPr/>
        </p:nvSpPr>
        <p:spPr>
          <a:xfrm>
            <a:off x="14173200" y="11755592"/>
            <a:ext cx="10210800" cy="5172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spcBef>
                <a:spcPts val="1200"/>
              </a:spcBef>
              <a:defRPr sz="3000">
                <a:latin typeface="+mj-lt"/>
                <a:ea typeface="+mj-ea"/>
                <a:cs typeface="+mj-cs"/>
                <a:sym typeface="Times New Roman"/>
              </a:defRPr>
            </a:pPr>
            <a:r>
              <a:rPr b="1"/>
              <a:t>Fig. 1.</a:t>
            </a:r>
            <a:r>
              <a:t> Phoneme-Viseme Based Deepfake Detection Framework</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2" name="phoneme_embeddings.png" descr="phoneme_embeddings.png"/>
          <p:cNvPicPr>
            <a:picLocks noChangeAspect="1"/>
          </p:cNvPicPr>
          <p:nvPr>
            <p:ph type="pic" idx="21"/>
          </p:nvPr>
        </p:nvPicPr>
        <p:blipFill>
          <a:blip r:embed="rId2">
            <a:extLst/>
          </a:blip>
          <a:srcRect l="0" t="1784" r="0" b="6086"/>
          <a:stretch>
            <a:fillRect/>
          </a:stretch>
        </p:blipFill>
        <p:spPr>
          <a:xfrm>
            <a:off x="15608300" y="3149600"/>
            <a:ext cx="7302500" cy="9296400"/>
          </a:xfrm>
          <a:prstGeom prst="rect">
            <a:avLst/>
          </a:prstGeom>
        </p:spPr>
      </p:pic>
      <p:sp>
        <p:nvSpPr>
          <p:cNvPr id="153" name="Phoneme-Aware Audio Feature Extraction"/>
          <p:cNvSpPr txBox="1"/>
          <p:nvPr>
            <p:ph type="title"/>
          </p:nvPr>
        </p:nvSpPr>
        <p:spPr>
          <a:prstGeom prst="rect">
            <a:avLst/>
          </a:prstGeom>
        </p:spPr>
        <p:txBody>
          <a:bodyPr/>
          <a:lstStyle>
            <a:lvl1pPr defTabSz="457200">
              <a:lnSpc>
                <a:spcPct val="100000"/>
              </a:lnSpc>
            </a:lvl1pPr>
          </a:lstStyle>
          <a:p>
            <a:pPr/>
            <a:r>
              <a:t>Phoneme-Aware Audio Feature Extraction</a:t>
            </a:r>
          </a:p>
        </p:txBody>
      </p:sp>
      <p:sp>
        <p:nvSpPr>
          <p:cNvPr id="154" name="The speech signal extracted from each video is processed using a Wav2Vec 2.0 model, which is a pre-trained model to produce speech embeddings.…"/>
          <p:cNvSpPr txBox="1"/>
          <p:nvPr>
            <p:ph type="body" sz="half" idx="1"/>
          </p:nvPr>
        </p:nvSpPr>
        <p:spPr>
          <a:xfrm>
            <a:off x="1689100" y="3149600"/>
            <a:ext cx="13462000" cy="9296400"/>
          </a:xfrm>
          <a:prstGeom prst="rect">
            <a:avLst/>
          </a:prstGeom>
        </p:spPr>
        <p:txBody>
          <a:bodyPr anchor="t"/>
          <a:lstStyle/>
          <a:p>
            <a:pPr marL="558800" indent="-558800">
              <a:defRPr sz="4200">
                <a:latin typeface="+mj-lt"/>
                <a:ea typeface="+mj-ea"/>
                <a:cs typeface="+mj-cs"/>
                <a:sym typeface="Times New Roman"/>
              </a:defRPr>
            </a:pPr>
            <a:r>
              <a:t>The speech signal extracted from each video is processed using a Wav2Vec 2.0 model, which is a pre-trained model to produce speech embeddings.</a:t>
            </a:r>
          </a:p>
          <a:p>
            <a:pPr marL="558800" indent="-558800">
              <a:defRPr sz="4200">
                <a:latin typeface="+mj-lt"/>
                <a:ea typeface="+mj-ea"/>
                <a:cs typeface="+mj-cs"/>
                <a:sym typeface="Times New Roman"/>
              </a:defRPr>
            </a:pPr>
            <a:r>
              <a:t>These speech embeddings represent the phonetic and linguistic characteristics of the speech signal without any requirement of phoneme alignment.</a:t>
            </a:r>
          </a:p>
          <a:p>
            <a:pPr marL="558800" indent="-558800">
              <a:defRPr sz="4200">
                <a:latin typeface="+mj-lt"/>
                <a:ea typeface="+mj-ea"/>
                <a:cs typeface="+mj-cs"/>
                <a:sym typeface="Times New Roman"/>
              </a:defRPr>
            </a:pPr>
            <a:r>
              <a:t>The audio representation maintains the fine-grained phonetic characteristics of the speech signal, which is necessary for alignment with lip movements.</a:t>
            </a:r>
          </a:p>
          <a:p>
            <a:pPr marL="558800" indent="-558800">
              <a:defRPr sz="4200">
                <a:latin typeface="+mj-lt"/>
                <a:ea typeface="+mj-ea"/>
                <a:cs typeface="+mj-cs"/>
                <a:sym typeface="Times New Roman"/>
              </a:defRPr>
            </a:pPr>
            <a:r>
              <a:t>To increase efficiency, the extracted audio embeddings are cached and used during the training process.</a:t>
            </a:r>
          </a:p>
        </p:txBody>
      </p:sp>
      <p:sp>
        <p:nvSpPr>
          <p:cNvPr id="155" name="Fig. 2. Audio Embeddings"/>
          <p:cNvSpPr txBox="1"/>
          <p:nvPr/>
        </p:nvSpPr>
        <p:spPr>
          <a:xfrm>
            <a:off x="17145000" y="12593792"/>
            <a:ext cx="4445000" cy="5172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spcBef>
                <a:spcPts val="1200"/>
              </a:spcBef>
              <a:defRPr sz="3000">
                <a:latin typeface="+mj-lt"/>
                <a:ea typeface="+mj-ea"/>
                <a:cs typeface="+mj-cs"/>
                <a:sym typeface="Times New Roman"/>
              </a:defRPr>
            </a:pPr>
            <a:r>
              <a:rPr b="1"/>
              <a:t>Fig. 2.</a:t>
            </a:r>
            <a:r>
              <a:t> Audio Embeddings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Viseme-Oriented Visual Feature Extraction"/>
          <p:cNvSpPr txBox="1"/>
          <p:nvPr>
            <p:ph type="title"/>
          </p:nvPr>
        </p:nvSpPr>
        <p:spPr>
          <a:prstGeom prst="rect">
            <a:avLst/>
          </a:prstGeom>
        </p:spPr>
        <p:txBody>
          <a:bodyPr/>
          <a:lstStyle>
            <a:lvl1pPr defTabSz="457200">
              <a:lnSpc>
                <a:spcPct val="100000"/>
              </a:lnSpc>
            </a:lvl1pPr>
          </a:lstStyle>
          <a:p>
            <a:pPr/>
            <a:r>
              <a:t>Viseme-Oriented Visual Feature Extraction</a:t>
            </a:r>
          </a:p>
        </p:txBody>
      </p:sp>
      <p:sp>
        <p:nvSpPr>
          <p:cNvPr id="158" name="For the visual stream, face detection and alignment are performed to isolate the mouth region from each frame.…"/>
          <p:cNvSpPr txBox="1"/>
          <p:nvPr>
            <p:ph type="body" sz="half" idx="1"/>
          </p:nvPr>
        </p:nvSpPr>
        <p:spPr>
          <a:xfrm>
            <a:off x="1689100" y="3149600"/>
            <a:ext cx="13462000" cy="9296400"/>
          </a:xfrm>
          <a:prstGeom prst="rect">
            <a:avLst/>
          </a:prstGeom>
        </p:spPr>
        <p:txBody>
          <a:bodyPr anchor="t"/>
          <a:lstStyle/>
          <a:p>
            <a:pPr marL="558800" indent="-558800">
              <a:defRPr sz="4200">
                <a:latin typeface="+mj-lt"/>
                <a:ea typeface="+mj-ea"/>
                <a:cs typeface="+mj-cs"/>
                <a:sym typeface="Times New Roman"/>
              </a:defRPr>
            </a:pPr>
            <a:r>
              <a:t>For the visual stream, face detection and alignment are performed to isolate the mouth region from each frame.</a:t>
            </a:r>
          </a:p>
          <a:p>
            <a:pPr marL="558800" indent="-558800">
              <a:defRPr sz="4200">
                <a:latin typeface="+mj-lt"/>
                <a:ea typeface="+mj-ea"/>
                <a:cs typeface="+mj-cs"/>
                <a:sym typeface="Times New Roman"/>
              </a:defRPr>
            </a:pPr>
            <a:r>
              <a:t>The cropped mouth images are passed through a ResNet-18 backbone to extract visual features representing lip movements.</a:t>
            </a:r>
          </a:p>
          <a:p>
            <a:pPr marL="558800" indent="-558800">
              <a:defRPr sz="4200">
                <a:latin typeface="+mj-lt"/>
                <a:ea typeface="+mj-ea"/>
                <a:cs typeface="+mj-cs"/>
                <a:sym typeface="Times New Roman"/>
              </a:defRPr>
            </a:pPr>
            <a:r>
              <a:t>These viseme-oriented features capture articulation patterns corresponding to speech sounds.</a:t>
            </a:r>
          </a:p>
          <a:p>
            <a:pPr marL="558800" indent="-558800">
              <a:defRPr sz="4200">
                <a:latin typeface="+mj-lt"/>
                <a:ea typeface="+mj-ea"/>
                <a:cs typeface="+mj-cs"/>
                <a:sym typeface="Times New Roman"/>
              </a:defRPr>
            </a:pPr>
            <a:r>
              <a:t>The focus on the mouth region allows the model to learn articulation-specific information instead of global facial features.</a:t>
            </a:r>
          </a:p>
        </p:txBody>
      </p:sp>
      <p:pic>
        <p:nvPicPr>
          <p:cNvPr id="159" name="viseme_embeddings.png" descr="viseme_embeddings.png"/>
          <p:cNvPicPr>
            <a:picLocks noChangeAspect="1"/>
          </p:cNvPicPr>
          <p:nvPr/>
        </p:nvPicPr>
        <p:blipFill>
          <a:blip r:embed="rId2">
            <a:extLst/>
          </a:blip>
          <a:srcRect l="0" t="611" r="0" b="8094"/>
          <a:stretch>
            <a:fillRect/>
          </a:stretch>
        </p:blipFill>
        <p:spPr>
          <a:xfrm>
            <a:off x="15581307" y="3149600"/>
            <a:ext cx="7369186" cy="9296400"/>
          </a:xfrm>
          <a:prstGeom prst="rect">
            <a:avLst/>
          </a:prstGeom>
          <a:ln w="12700">
            <a:miter lim="400000"/>
          </a:ln>
        </p:spPr>
      </p:pic>
      <p:sp>
        <p:nvSpPr>
          <p:cNvPr id="160" name="Fig. 3. Video Embeddings"/>
          <p:cNvSpPr txBox="1"/>
          <p:nvPr/>
        </p:nvSpPr>
        <p:spPr>
          <a:xfrm>
            <a:off x="17145000" y="12593792"/>
            <a:ext cx="4445000" cy="5172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spcBef>
                <a:spcPts val="1200"/>
              </a:spcBef>
              <a:defRPr sz="3000">
                <a:latin typeface="+mj-lt"/>
                <a:ea typeface="+mj-ea"/>
                <a:cs typeface="+mj-cs"/>
                <a:sym typeface="Times New Roman"/>
              </a:defRPr>
            </a:pPr>
            <a:r>
              <a:rPr b="1"/>
              <a:t>Fig. 3.</a:t>
            </a:r>
            <a:r>
              <a:t> Video Embeddings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Temporal Alignment"/>
          <p:cNvSpPr txBox="1"/>
          <p:nvPr>
            <p:ph type="title"/>
          </p:nvPr>
        </p:nvSpPr>
        <p:spPr>
          <a:prstGeom prst="rect">
            <a:avLst/>
          </a:prstGeom>
        </p:spPr>
        <p:txBody>
          <a:bodyPr/>
          <a:lstStyle/>
          <a:p>
            <a:pPr/>
            <a:r>
              <a:t>Temporal Alignment</a:t>
            </a:r>
          </a:p>
        </p:txBody>
      </p:sp>
      <p:sp>
        <p:nvSpPr>
          <p:cNvPr id="163" name="The extracted audio and visual embeddings are aligned on the basis of their timestamps. This guarantees that the appropriate alignment between the audio and visual embeddings is achieved.…"/>
          <p:cNvSpPr txBox="1"/>
          <p:nvPr>
            <p:ph type="body" sz="half" idx="1"/>
          </p:nvPr>
        </p:nvSpPr>
        <p:spPr>
          <a:xfrm>
            <a:off x="1689100" y="3149600"/>
            <a:ext cx="13462000" cy="9296400"/>
          </a:xfrm>
          <a:prstGeom prst="rect">
            <a:avLst/>
          </a:prstGeom>
        </p:spPr>
        <p:txBody>
          <a:bodyPr anchor="t"/>
          <a:lstStyle/>
          <a:p>
            <a:pPr marL="558800" indent="-558800">
              <a:defRPr sz="4200">
                <a:latin typeface="+mj-lt"/>
                <a:ea typeface="+mj-ea"/>
                <a:cs typeface="+mj-cs"/>
                <a:sym typeface="Times New Roman"/>
              </a:defRPr>
            </a:pPr>
            <a:r>
              <a:t>The extracted audio and visual embeddings are aligned on the basis of their timestamps. This guarantees that the appropriate alignment between the audio and visual embeddings is achieved.</a:t>
            </a:r>
          </a:p>
          <a:p>
            <a:pPr marL="558800" indent="-558800">
              <a:defRPr sz="4200">
                <a:latin typeface="+mj-lt"/>
                <a:ea typeface="+mj-ea"/>
                <a:cs typeface="+mj-cs"/>
                <a:sym typeface="Times New Roman"/>
              </a:defRPr>
            </a:pPr>
            <a:r>
              <a:t>At every time step [t], the audio embedding corresponding to the phoneme is matched with the visual embedding.</a:t>
            </a:r>
          </a:p>
          <a:p>
            <a:pPr marL="558800" indent="-558800">
              <a:defRPr sz="4200">
                <a:latin typeface="+mj-lt"/>
                <a:ea typeface="+mj-ea"/>
                <a:cs typeface="+mj-cs"/>
                <a:sym typeface="Times New Roman"/>
              </a:defRPr>
            </a:pPr>
            <a:r>
              <a:t>This provides a one-to-one correspondence between the entire sequence and thus enables interaction.</a:t>
            </a:r>
          </a:p>
          <a:p>
            <a:pPr marL="558800" indent="-558800">
              <a:defRPr sz="4200">
                <a:latin typeface="+mj-lt"/>
                <a:ea typeface="+mj-ea"/>
                <a:cs typeface="+mj-cs"/>
                <a:sym typeface="Times New Roman"/>
              </a:defRPr>
            </a:pPr>
            <a:r>
              <a:t>If the model has not been aligned, the model would incorrectly identify the mismatch between the unrelated audio and visual frames.</a:t>
            </a:r>
          </a:p>
        </p:txBody>
      </p:sp>
      <p:pic>
        <p:nvPicPr>
          <p:cNvPr id="164" name="timeline_of_audio_and_video.png" descr="timeline_of_audio_and_video.png"/>
          <p:cNvPicPr>
            <a:picLocks noChangeAspect="1"/>
          </p:cNvPicPr>
          <p:nvPr/>
        </p:nvPicPr>
        <p:blipFill>
          <a:blip r:embed="rId2">
            <a:extLst/>
          </a:blip>
          <a:srcRect l="0" t="5482" r="0" b="5482"/>
          <a:stretch>
            <a:fillRect/>
          </a:stretch>
        </p:blipFill>
        <p:spPr>
          <a:xfrm>
            <a:off x="15801566" y="3149599"/>
            <a:ext cx="7004869" cy="9296401"/>
          </a:xfrm>
          <a:prstGeom prst="rect">
            <a:avLst/>
          </a:prstGeom>
          <a:ln w="12700">
            <a:miter lim="400000"/>
          </a:ln>
        </p:spPr>
      </p:pic>
      <p:sp>
        <p:nvSpPr>
          <p:cNvPr id="165" name="Fig. 4. Timeline diagram showing aligned audio and visual frames."/>
          <p:cNvSpPr txBox="1"/>
          <p:nvPr/>
        </p:nvSpPr>
        <p:spPr>
          <a:xfrm>
            <a:off x="13944600" y="12593792"/>
            <a:ext cx="10325100" cy="5172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spcBef>
                <a:spcPts val="1200"/>
              </a:spcBef>
              <a:defRPr sz="3000">
                <a:latin typeface="+mj-lt"/>
                <a:ea typeface="+mj-ea"/>
                <a:cs typeface="+mj-cs"/>
                <a:sym typeface="Times New Roman"/>
              </a:defRPr>
            </a:pPr>
            <a:r>
              <a:rPr b="1"/>
              <a:t>Fig. 4.</a:t>
            </a:r>
            <a:r>
              <a:t> Timeline diagram showing aligned audio and visual frames.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Cross-Modal Attention Mechanism"/>
          <p:cNvSpPr txBox="1"/>
          <p:nvPr>
            <p:ph type="title"/>
          </p:nvPr>
        </p:nvSpPr>
        <p:spPr>
          <a:prstGeom prst="rect">
            <a:avLst/>
          </a:prstGeom>
        </p:spPr>
        <p:txBody>
          <a:bodyPr/>
          <a:lstStyle/>
          <a:p>
            <a:pPr/>
            <a:r>
              <a:t>Cross-Modal Attention Mechanism</a:t>
            </a:r>
          </a:p>
        </p:txBody>
      </p:sp>
      <p:sp>
        <p:nvSpPr>
          <p:cNvPr id="168" name="The core component of the framework is the cross-modal attention mechanism.…"/>
          <p:cNvSpPr txBox="1"/>
          <p:nvPr>
            <p:ph type="body" sz="half" idx="1"/>
          </p:nvPr>
        </p:nvSpPr>
        <p:spPr>
          <a:xfrm>
            <a:off x="1689100" y="3149600"/>
            <a:ext cx="13462000" cy="9296400"/>
          </a:xfrm>
          <a:prstGeom prst="rect">
            <a:avLst/>
          </a:prstGeom>
        </p:spPr>
        <p:txBody>
          <a:bodyPr anchor="t"/>
          <a:lstStyle/>
          <a:p>
            <a:pPr marL="542036" indent="-542036" defTabSz="443484">
              <a:spcBef>
                <a:spcPts val="1100"/>
              </a:spcBef>
              <a:defRPr sz="4074">
                <a:latin typeface="+mj-lt"/>
                <a:ea typeface="+mj-ea"/>
                <a:cs typeface="+mj-cs"/>
                <a:sym typeface="Times New Roman"/>
              </a:defRPr>
            </a:pPr>
            <a:r>
              <a:t>The core component of the framework is the cross-modal attention mechanism.</a:t>
            </a:r>
          </a:p>
          <a:p>
            <a:pPr marL="542036" indent="-542036" defTabSz="443484">
              <a:spcBef>
                <a:spcPts val="1100"/>
              </a:spcBef>
              <a:defRPr sz="4074">
                <a:latin typeface="+mj-lt"/>
                <a:ea typeface="+mj-ea"/>
                <a:cs typeface="+mj-cs"/>
                <a:sym typeface="Times New Roman"/>
              </a:defRPr>
            </a:pPr>
            <a:r>
              <a:t>In this setup:</a:t>
            </a:r>
          </a:p>
          <a:p>
            <a:pPr lvl="1" marL="1154906" indent="-538956" defTabSz="443484">
              <a:spcBef>
                <a:spcPts val="1100"/>
              </a:spcBef>
              <a:buSzPct val="50000"/>
              <a:buBlip>
                <a:blip r:embed="rId2"/>
              </a:buBlip>
              <a:defRPr sz="4074">
                <a:latin typeface="+mj-lt"/>
                <a:ea typeface="+mj-ea"/>
                <a:cs typeface="+mj-cs"/>
                <a:sym typeface="Times New Roman"/>
              </a:defRPr>
            </a:pPr>
            <a:r>
              <a:t>Audio embeddings act as queries.</a:t>
            </a:r>
            <a:br/>
            <a:r>
              <a:t>Visual embeddings act as keys and values.</a:t>
            </a:r>
          </a:p>
          <a:p>
            <a:pPr lvl="1" marL="1154906" indent="-538956" defTabSz="443484">
              <a:spcBef>
                <a:spcPts val="1100"/>
              </a:spcBef>
              <a:buSzPct val="50000"/>
              <a:buBlip>
                <a:blip r:embed="rId2"/>
              </a:buBlip>
              <a:defRPr sz="4074">
                <a:latin typeface="+mj-lt"/>
                <a:ea typeface="+mj-ea"/>
                <a:cs typeface="+mj-cs"/>
                <a:sym typeface="Times New Roman"/>
              </a:defRPr>
            </a:pPr>
            <a:r>
              <a:t>The attention mechanism computes weighted interactions between audio and visual features, highlighting areas where articulation inconsistencies occur.</a:t>
            </a:r>
          </a:p>
          <a:p>
            <a:pPr lvl="1" marL="1154906" indent="-538956" defTabSz="443484">
              <a:spcBef>
                <a:spcPts val="1100"/>
              </a:spcBef>
              <a:buSzPct val="50000"/>
              <a:buBlip>
                <a:blip r:embed="rId2"/>
              </a:buBlip>
              <a:defRPr sz="4074">
                <a:latin typeface="+mj-lt"/>
                <a:ea typeface="+mj-ea"/>
                <a:cs typeface="+mj-cs"/>
                <a:sym typeface="Times New Roman"/>
              </a:defRPr>
            </a:pPr>
            <a:r>
              <a:t>This mechanism enables the model to dynamically focus on visual evidence corresponding to specific speech sounds.</a:t>
            </a:r>
          </a:p>
          <a:p>
            <a:pPr lvl="1" marL="1154906" indent="-538956" defTabSz="443484">
              <a:spcBef>
                <a:spcPts val="1100"/>
              </a:spcBef>
              <a:buSzPct val="50000"/>
              <a:buBlip>
                <a:blip r:embed="rId2"/>
              </a:buBlip>
              <a:defRPr sz="4074">
                <a:latin typeface="+mj-lt"/>
                <a:ea typeface="+mj-ea"/>
                <a:cs typeface="+mj-cs"/>
                <a:sym typeface="Times New Roman"/>
              </a:defRPr>
            </a:pPr>
            <a:r>
              <a:t>Unlike late fusion methods, this representation-level interaction allows the detection of fine-grained phoneme–viseme mismatches.</a:t>
            </a:r>
          </a:p>
        </p:txBody>
      </p:sp>
      <p:pic>
        <p:nvPicPr>
          <p:cNvPr id="169" name="framework_architecture.png" descr="framework_architecture.png"/>
          <p:cNvPicPr>
            <a:picLocks noChangeAspect="1"/>
          </p:cNvPicPr>
          <p:nvPr/>
        </p:nvPicPr>
        <p:blipFill>
          <a:blip r:embed="rId3">
            <a:extLst/>
          </a:blip>
          <a:srcRect l="0" t="10178" r="0" b="19412"/>
          <a:stretch>
            <a:fillRect/>
          </a:stretch>
        </p:blipFill>
        <p:spPr>
          <a:xfrm>
            <a:off x="14884400" y="3149599"/>
            <a:ext cx="9525000" cy="9296401"/>
          </a:xfrm>
          <a:prstGeom prst="rect">
            <a:avLst/>
          </a:prstGeom>
          <a:ln w="12700">
            <a:miter lim="400000"/>
          </a:ln>
        </p:spPr>
      </p:pic>
      <p:sp>
        <p:nvSpPr>
          <p:cNvPr id="170" name="Fig. 5. Cross-Modal Attention Framework"/>
          <p:cNvSpPr txBox="1"/>
          <p:nvPr/>
        </p:nvSpPr>
        <p:spPr>
          <a:xfrm>
            <a:off x="15875000" y="11780992"/>
            <a:ext cx="6667500" cy="5172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spcBef>
                <a:spcPts val="1200"/>
              </a:spcBef>
              <a:defRPr sz="3000">
                <a:latin typeface="+mj-lt"/>
                <a:ea typeface="+mj-ea"/>
                <a:cs typeface="+mj-cs"/>
                <a:sym typeface="Times New Roman"/>
              </a:defRPr>
            </a:pPr>
            <a:r>
              <a:rPr b="1"/>
              <a:t>Fig. 5.</a:t>
            </a:r>
            <a:r>
              <a:t> Cross-Modal Attention Framework</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Implementation"/>
          <p:cNvSpPr txBox="1"/>
          <p:nvPr>
            <p:ph type="title"/>
          </p:nvPr>
        </p:nvSpPr>
        <p:spPr>
          <a:prstGeom prst="rect">
            <a:avLst/>
          </a:prstGeom>
        </p:spPr>
        <p:txBody>
          <a:bodyPr/>
          <a:lstStyle/>
          <a:p>
            <a:pPr/>
            <a:r>
              <a:t>Implementation</a:t>
            </a:r>
          </a:p>
        </p:txBody>
      </p:sp>
      <p:sp>
        <p:nvSpPr>
          <p:cNvPr id="173" name="Tools and Technology Stack…"/>
          <p:cNvSpPr txBox="1"/>
          <p:nvPr>
            <p:ph type="body" idx="1"/>
          </p:nvPr>
        </p:nvSpPr>
        <p:spPr>
          <a:prstGeom prst="rect">
            <a:avLst/>
          </a:prstGeom>
        </p:spPr>
        <p:txBody>
          <a:bodyPr anchor="t"/>
          <a:lstStyle/>
          <a:p>
            <a:pPr marL="0" indent="0" defTabSz="425195">
              <a:spcBef>
                <a:spcPts val="0"/>
              </a:spcBef>
              <a:buSzTx/>
              <a:buNone/>
              <a:defRPr b="1" sz="3906">
                <a:latin typeface="Times Roman"/>
                <a:ea typeface="Times Roman"/>
                <a:cs typeface="Times Roman"/>
                <a:sym typeface="Times Roman"/>
              </a:defRPr>
            </a:pPr>
            <a:r>
              <a:t>Tools and Technology Stack</a:t>
            </a:r>
          </a:p>
          <a:p>
            <a:pPr marL="519684" indent="-519684" defTabSz="425195">
              <a:spcBef>
                <a:spcPts val="1300"/>
              </a:spcBef>
              <a:defRPr b="1" sz="3906">
                <a:latin typeface="+mj-lt"/>
                <a:ea typeface="+mj-ea"/>
                <a:cs typeface="+mj-cs"/>
                <a:sym typeface="Times New Roman"/>
              </a:defRPr>
            </a:pPr>
            <a:r>
              <a:t>Programming Environment</a:t>
            </a:r>
          </a:p>
          <a:p>
            <a:pPr lvl="1" marL="1107281" indent="-516731" defTabSz="425195">
              <a:spcBef>
                <a:spcPts val="1100"/>
              </a:spcBef>
              <a:buSzPct val="50000"/>
              <a:buBlip>
                <a:blip r:embed="rId2"/>
              </a:buBlip>
              <a:defRPr sz="3906">
                <a:latin typeface="+mj-lt"/>
                <a:ea typeface="+mj-ea"/>
                <a:cs typeface="+mj-cs"/>
                <a:sym typeface="Times New Roman"/>
              </a:defRPr>
            </a:pPr>
            <a:r>
              <a:t>Python</a:t>
            </a:r>
          </a:p>
          <a:p>
            <a:pPr lvl="1" marL="1107281" indent="-516731" defTabSz="425195">
              <a:spcBef>
                <a:spcPts val="1100"/>
              </a:spcBef>
              <a:buSzPct val="50000"/>
              <a:buBlip>
                <a:blip r:embed="rId2"/>
              </a:buBlip>
              <a:defRPr sz="3906">
                <a:latin typeface="+mj-lt"/>
                <a:ea typeface="+mj-ea"/>
                <a:cs typeface="+mj-cs"/>
                <a:sym typeface="Times New Roman"/>
              </a:defRPr>
            </a:pPr>
            <a:r>
              <a:t>Jupyter Notebook</a:t>
            </a:r>
          </a:p>
          <a:p>
            <a:pPr marL="519684" indent="-519684" defTabSz="425195">
              <a:spcBef>
                <a:spcPts val="1300"/>
              </a:spcBef>
              <a:defRPr b="1" sz="3906">
                <a:latin typeface="+mj-lt"/>
                <a:ea typeface="+mj-ea"/>
                <a:cs typeface="+mj-cs"/>
                <a:sym typeface="Times New Roman"/>
              </a:defRPr>
            </a:pPr>
            <a:r>
              <a:t>Deep Learning Framework</a:t>
            </a:r>
          </a:p>
          <a:p>
            <a:pPr lvl="1" marL="1107281" indent="-516731" defTabSz="425195">
              <a:spcBef>
                <a:spcPts val="1100"/>
              </a:spcBef>
              <a:buSzPct val="50000"/>
              <a:buBlip>
                <a:blip r:embed="rId2"/>
              </a:buBlip>
              <a:defRPr sz="3906">
                <a:latin typeface="+mj-lt"/>
                <a:ea typeface="+mj-ea"/>
                <a:cs typeface="+mj-cs"/>
                <a:sym typeface="Times New Roman"/>
              </a:defRPr>
            </a:pPr>
            <a:r>
              <a:t>PyTorch</a:t>
            </a:r>
          </a:p>
          <a:p>
            <a:pPr marL="519684" indent="-519684" defTabSz="425195">
              <a:spcBef>
                <a:spcPts val="1300"/>
              </a:spcBef>
              <a:defRPr b="1" sz="3906">
                <a:latin typeface="+mj-lt"/>
                <a:ea typeface="+mj-ea"/>
                <a:cs typeface="+mj-cs"/>
                <a:sym typeface="Times New Roman"/>
              </a:defRPr>
            </a:pPr>
            <a:r>
              <a:t>Audio Processing</a:t>
            </a:r>
          </a:p>
          <a:p>
            <a:pPr lvl="1" marL="1107281" indent="-516731" defTabSz="425195">
              <a:spcBef>
                <a:spcPts val="1100"/>
              </a:spcBef>
              <a:buSzPct val="50000"/>
              <a:buBlip>
                <a:blip r:embed="rId2"/>
              </a:buBlip>
              <a:defRPr sz="3906">
                <a:latin typeface="+mj-lt"/>
                <a:ea typeface="+mj-ea"/>
                <a:cs typeface="+mj-cs"/>
                <a:sym typeface="Times New Roman"/>
              </a:defRPr>
            </a:pPr>
            <a:r>
              <a:t>Wav2Vec 2.0 (pretrained model)</a:t>
            </a:r>
          </a:p>
          <a:p>
            <a:pPr lvl="1" marL="1107281" indent="-516731" defTabSz="425195">
              <a:spcBef>
                <a:spcPts val="1100"/>
              </a:spcBef>
              <a:buSzPct val="50000"/>
              <a:buBlip>
                <a:blip r:embed="rId2"/>
              </a:buBlip>
              <a:defRPr sz="3906">
                <a:latin typeface="+mj-lt"/>
                <a:ea typeface="+mj-ea"/>
                <a:cs typeface="+mj-cs"/>
                <a:sym typeface="Times New Roman"/>
              </a:defRPr>
            </a:pPr>
            <a:r>
              <a:t>Torchaudio</a:t>
            </a:r>
          </a:p>
          <a:p>
            <a:pPr marL="519684" indent="-519684" defTabSz="425195">
              <a:spcBef>
                <a:spcPts val="1300"/>
              </a:spcBef>
              <a:defRPr b="1" sz="3906">
                <a:latin typeface="+mj-lt"/>
                <a:ea typeface="+mj-ea"/>
                <a:cs typeface="+mj-cs"/>
                <a:sym typeface="Times New Roman"/>
              </a:defRPr>
            </a:pPr>
            <a:r>
              <a:t>Visual Processing</a:t>
            </a:r>
          </a:p>
          <a:p>
            <a:pPr lvl="1" marL="1107281" indent="-516731" defTabSz="425195">
              <a:spcBef>
                <a:spcPts val="1100"/>
              </a:spcBef>
              <a:buSzPct val="50000"/>
              <a:buBlip>
                <a:blip r:embed="rId2"/>
              </a:buBlip>
              <a:defRPr sz="3906">
                <a:latin typeface="+mj-lt"/>
                <a:ea typeface="+mj-ea"/>
                <a:cs typeface="+mj-cs"/>
                <a:sym typeface="Times New Roman"/>
              </a:defRPr>
            </a:pPr>
            <a:r>
              <a:t>OpenCV (frame extraction)</a:t>
            </a:r>
          </a:p>
          <a:p>
            <a:pPr lvl="1" marL="1107281" indent="-516731" defTabSz="425195">
              <a:spcBef>
                <a:spcPts val="1100"/>
              </a:spcBef>
              <a:buSzPct val="50000"/>
              <a:buBlip>
                <a:blip r:embed="rId2"/>
              </a:buBlip>
              <a:defRPr sz="3906">
                <a:latin typeface="+mj-lt"/>
                <a:ea typeface="+mj-ea"/>
                <a:cs typeface="+mj-cs"/>
                <a:sym typeface="Times New Roman"/>
              </a:defRPr>
            </a:pPr>
            <a:r>
              <a:t>Face detection and mouth cropping</a:t>
            </a:r>
          </a:p>
          <a:p>
            <a:pPr lvl="1" marL="1107281" indent="-516731" defTabSz="425195">
              <a:spcBef>
                <a:spcPts val="1100"/>
              </a:spcBef>
              <a:buSzPct val="50000"/>
              <a:buBlip>
                <a:blip r:embed="rId2"/>
              </a:buBlip>
              <a:defRPr sz="3906">
                <a:latin typeface="+mj-lt"/>
                <a:ea typeface="+mj-ea"/>
                <a:cs typeface="+mj-cs"/>
                <a:sym typeface="Times New Roman"/>
              </a:defRPr>
            </a:pPr>
            <a:r>
              <a:t>ResNet-18 (pretrained CNN backbone)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Implementation"/>
          <p:cNvSpPr txBox="1"/>
          <p:nvPr>
            <p:ph type="title"/>
          </p:nvPr>
        </p:nvSpPr>
        <p:spPr>
          <a:prstGeom prst="rect">
            <a:avLst/>
          </a:prstGeom>
        </p:spPr>
        <p:txBody>
          <a:bodyPr/>
          <a:lstStyle/>
          <a:p>
            <a:pPr/>
            <a:r>
              <a:t>Implementation</a:t>
            </a:r>
          </a:p>
        </p:txBody>
      </p:sp>
      <p:sp>
        <p:nvSpPr>
          <p:cNvPr id="176" name="Tools and Technology Stack…"/>
          <p:cNvSpPr txBox="1"/>
          <p:nvPr>
            <p:ph type="body" idx="4294967295"/>
          </p:nvPr>
        </p:nvSpPr>
        <p:spPr>
          <a:prstGeom prst="rect">
            <a:avLst/>
          </a:prstGeom>
        </p:spPr>
        <p:txBody>
          <a:bodyPr anchor="t"/>
          <a:lstStyle/>
          <a:p>
            <a:pPr marL="0" indent="0" defTabSz="374904">
              <a:spcBef>
                <a:spcPts val="0"/>
              </a:spcBef>
              <a:buSzTx/>
              <a:buNone/>
              <a:defRPr b="1" sz="3443">
                <a:latin typeface="Times Roman"/>
                <a:ea typeface="Times Roman"/>
                <a:cs typeface="Times Roman"/>
                <a:sym typeface="Times Roman"/>
              </a:defRPr>
            </a:pPr>
            <a:r>
              <a:t>Tools and Technology Stack</a:t>
            </a:r>
          </a:p>
          <a:p>
            <a:pPr marL="458216" indent="-458216" defTabSz="374904">
              <a:spcBef>
                <a:spcPts val="1100"/>
              </a:spcBef>
              <a:defRPr b="1" sz="3443">
                <a:latin typeface="+mj-lt"/>
                <a:ea typeface="+mj-ea"/>
                <a:cs typeface="+mj-cs"/>
                <a:sym typeface="Times New Roman"/>
              </a:defRPr>
            </a:pPr>
            <a:r>
              <a:t>Data Handling</a:t>
            </a:r>
          </a:p>
          <a:p>
            <a:pPr lvl="1" marL="976312" indent="-455612" defTabSz="374904">
              <a:spcBef>
                <a:spcPts val="900"/>
              </a:spcBef>
              <a:buSzPct val="50000"/>
              <a:buBlip>
                <a:blip r:embed="rId2"/>
              </a:buBlip>
              <a:defRPr sz="3443">
                <a:latin typeface="+mj-lt"/>
                <a:ea typeface="+mj-ea"/>
                <a:cs typeface="+mj-cs"/>
                <a:sym typeface="Times New Roman"/>
              </a:defRPr>
            </a:pPr>
            <a:r>
              <a:t>NumPy</a:t>
            </a:r>
          </a:p>
          <a:p>
            <a:pPr lvl="1" marL="976312" indent="-455612" defTabSz="374904">
              <a:spcBef>
                <a:spcPts val="900"/>
              </a:spcBef>
              <a:buSzPct val="50000"/>
              <a:buBlip>
                <a:blip r:embed="rId2"/>
              </a:buBlip>
              <a:defRPr sz="3443">
                <a:latin typeface="+mj-lt"/>
                <a:ea typeface="+mj-ea"/>
                <a:cs typeface="+mj-cs"/>
                <a:sym typeface="Times New Roman"/>
              </a:defRPr>
            </a:pPr>
            <a:r>
              <a:t>Pandas</a:t>
            </a:r>
          </a:p>
          <a:p>
            <a:pPr lvl="1" marL="976312" indent="-455612" defTabSz="374904">
              <a:spcBef>
                <a:spcPts val="900"/>
              </a:spcBef>
              <a:buSzPct val="50000"/>
              <a:buBlip>
                <a:blip r:embed="rId2"/>
              </a:buBlip>
              <a:defRPr sz="3443">
                <a:latin typeface="+mj-lt"/>
                <a:ea typeface="+mj-ea"/>
                <a:cs typeface="+mj-cs"/>
                <a:sym typeface="Times New Roman"/>
              </a:defRPr>
            </a:pPr>
            <a:r>
              <a:t>Metadata-based dataset management</a:t>
            </a:r>
          </a:p>
          <a:p>
            <a:pPr marL="458216" indent="-458216" defTabSz="374904">
              <a:spcBef>
                <a:spcPts val="1100"/>
              </a:spcBef>
              <a:defRPr b="1" sz="3443">
                <a:latin typeface="+mj-lt"/>
                <a:ea typeface="+mj-ea"/>
                <a:cs typeface="+mj-cs"/>
                <a:sym typeface="Times New Roman"/>
              </a:defRPr>
            </a:pPr>
            <a:r>
              <a:t>Visualization</a:t>
            </a:r>
          </a:p>
          <a:p>
            <a:pPr lvl="1" marL="976312" indent="-455612" defTabSz="374904">
              <a:spcBef>
                <a:spcPts val="900"/>
              </a:spcBef>
              <a:buSzPct val="50000"/>
              <a:buBlip>
                <a:blip r:embed="rId2"/>
              </a:buBlip>
              <a:defRPr sz="3443">
                <a:latin typeface="+mj-lt"/>
                <a:ea typeface="+mj-ea"/>
                <a:cs typeface="+mj-cs"/>
                <a:sym typeface="Times New Roman"/>
              </a:defRPr>
            </a:pPr>
            <a:r>
              <a:t>Matplotlib</a:t>
            </a:r>
          </a:p>
          <a:p>
            <a:pPr lvl="1" marL="976312" indent="-455612" defTabSz="374904">
              <a:spcBef>
                <a:spcPts val="900"/>
              </a:spcBef>
              <a:buSzPct val="50000"/>
              <a:buBlip>
                <a:blip r:embed="rId2"/>
              </a:buBlip>
              <a:defRPr sz="3443">
                <a:latin typeface="+mj-lt"/>
                <a:ea typeface="+mj-ea"/>
                <a:cs typeface="+mj-cs"/>
                <a:sym typeface="Times New Roman"/>
              </a:defRPr>
            </a:pPr>
            <a:r>
              <a:t>Scikit-learn (ROC curve, confusion matrix)</a:t>
            </a:r>
          </a:p>
          <a:p>
            <a:pPr marL="458216" indent="-458216" defTabSz="374904">
              <a:spcBef>
                <a:spcPts val="1100"/>
              </a:spcBef>
              <a:defRPr b="1" sz="3443">
                <a:latin typeface="+mj-lt"/>
                <a:ea typeface="+mj-ea"/>
                <a:cs typeface="+mj-cs"/>
                <a:sym typeface="Times New Roman"/>
              </a:defRPr>
            </a:pPr>
            <a:r>
              <a:t>Hardware</a:t>
            </a:r>
          </a:p>
          <a:p>
            <a:pPr lvl="1" marL="976312" indent="-455612" defTabSz="374904">
              <a:spcBef>
                <a:spcPts val="900"/>
              </a:spcBef>
              <a:buSzPct val="50000"/>
              <a:buBlip>
                <a:blip r:embed="rId2"/>
              </a:buBlip>
              <a:defRPr sz="3443">
                <a:latin typeface="+mj-lt"/>
                <a:ea typeface="+mj-ea"/>
                <a:cs typeface="+mj-cs"/>
                <a:sym typeface="Times New Roman"/>
              </a:defRPr>
            </a:pPr>
            <a:r>
              <a:t>T4 GPU provided by the Google Colab environment (for training acceleration)</a:t>
            </a:r>
          </a:p>
          <a:p>
            <a:pPr marL="0" indent="0" defTabSz="374904">
              <a:spcBef>
                <a:spcPts val="0"/>
              </a:spcBef>
              <a:buSzTx/>
              <a:buNone/>
              <a:defRPr b="1" sz="3443">
                <a:latin typeface="+mj-lt"/>
                <a:ea typeface="+mj-ea"/>
                <a:cs typeface="+mj-cs"/>
                <a:sym typeface="Times New Roman"/>
              </a:defRPr>
            </a:pPr>
            <a:r>
              <a:t>Data Preprocessing Pipeline</a:t>
            </a:r>
          </a:p>
          <a:p>
            <a:pPr marL="458216" indent="-458216" defTabSz="374904">
              <a:spcBef>
                <a:spcPts val="900"/>
              </a:spcBef>
              <a:defRPr sz="3443">
                <a:latin typeface="+mj-lt"/>
                <a:ea typeface="+mj-ea"/>
                <a:cs typeface="+mj-cs"/>
                <a:sym typeface="Times New Roman"/>
              </a:defRPr>
            </a:pPr>
            <a:r>
              <a:t>The implementation begins with structured metadata generation for the FakeAV dataset. Each entry contains:</a:t>
            </a:r>
          </a:p>
          <a:p>
            <a:pPr lvl="1" marL="976312" indent="-455612" defTabSz="374904">
              <a:spcBef>
                <a:spcPts val="900"/>
              </a:spcBef>
              <a:buSzPct val="50000"/>
              <a:buBlip>
                <a:blip r:embed="rId2"/>
              </a:buBlip>
              <a:defRPr sz="3443">
                <a:latin typeface="+mj-lt"/>
                <a:ea typeface="+mj-ea"/>
                <a:cs typeface="+mj-cs"/>
                <a:sym typeface="Times New Roman"/>
              </a:defRPr>
            </a:pPr>
            <a:r>
              <a:t>Video path</a:t>
            </a:r>
          </a:p>
          <a:p>
            <a:pPr lvl="1" marL="976312" indent="-455612" defTabSz="374904">
              <a:spcBef>
                <a:spcPts val="900"/>
              </a:spcBef>
              <a:buSzPct val="50000"/>
              <a:buBlip>
                <a:blip r:embed="rId2"/>
              </a:buBlip>
              <a:defRPr sz="3443">
                <a:latin typeface="+mj-lt"/>
                <a:ea typeface="+mj-ea"/>
                <a:cs typeface="+mj-cs"/>
                <a:sym typeface="Times New Roman"/>
              </a:defRPr>
            </a:pPr>
            <a:r>
              <a:t>Label (real or fake)</a:t>
            </a:r>
          </a:p>
          <a:p>
            <a:pPr lvl="1" marL="976312" indent="-455612" defTabSz="374904">
              <a:spcBef>
                <a:spcPts val="900"/>
              </a:spcBef>
              <a:buSzPct val="50000"/>
              <a:buBlip>
                <a:blip r:embed="rId2"/>
              </a:buBlip>
              <a:defRPr sz="3443">
                <a:latin typeface="+mj-lt"/>
                <a:ea typeface="+mj-ea"/>
                <a:cs typeface="+mj-cs"/>
                <a:sym typeface="Times New Roman"/>
              </a:defRPr>
            </a:pPr>
            <a:r>
              <a:t>Subject identity</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Implementation"/>
          <p:cNvSpPr txBox="1"/>
          <p:nvPr>
            <p:ph type="title"/>
          </p:nvPr>
        </p:nvSpPr>
        <p:spPr>
          <a:prstGeom prst="rect">
            <a:avLst/>
          </a:prstGeom>
        </p:spPr>
        <p:txBody>
          <a:bodyPr/>
          <a:lstStyle/>
          <a:p>
            <a:pPr/>
            <a:r>
              <a:t>Implementation</a:t>
            </a:r>
          </a:p>
        </p:txBody>
      </p:sp>
      <p:sp>
        <p:nvSpPr>
          <p:cNvPr id="179" name="Data Preprocessing Pipeline…"/>
          <p:cNvSpPr txBox="1"/>
          <p:nvPr>
            <p:ph type="body" idx="4294967295"/>
          </p:nvPr>
        </p:nvSpPr>
        <p:spPr>
          <a:prstGeom prst="rect">
            <a:avLst/>
          </a:prstGeom>
        </p:spPr>
        <p:txBody>
          <a:bodyPr anchor="t"/>
          <a:lstStyle/>
          <a:p>
            <a:pPr marL="0" indent="0" defTabSz="457200">
              <a:spcBef>
                <a:spcPts val="0"/>
              </a:spcBef>
              <a:buSzTx/>
              <a:buNone/>
              <a:defRPr b="1" sz="4200">
                <a:latin typeface="+mj-lt"/>
                <a:ea typeface="+mj-ea"/>
                <a:cs typeface="+mj-cs"/>
                <a:sym typeface="Times New Roman"/>
              </a:defRPr>
            </a:pPr>
            <a:r>
              <a:t>Data Preprocessing Pipeline</a:t>
            </a:r>
          </a:p>
          <a:p>
            <a:pPr marL="558800" indent="-558800" defTabSz="457200">
              <a:spcBef>
                <a:spcPts val="1200"/>
              </a:spcBef>
              <a:defRPr sz="4200">
                <a:latin typeface="+mj-lt"/>
                <a:ea typeface="+mj-ea"/>
                <a:cs typeface="+mj-cs"/>
                <a:sym typeface="Times New Roman"/>
              </a:defRPr>
            </a:pPr>
            <a:r>
              <a:t>This ensures reproducibility and subject-independent splitting.</a:t>
            </a:r>
          </a:p>
          <a:p>
            <a:pPr marL="558800" indent="-558800" defTabSz="457200">
              <a:spcBef>
                <a:spcPts val="1200"/>
              </a:spcBef>
              <a:defRPr sz="4200">
                <a:latin typeface="+mj-lt"/>
                <a:ea typeface="+mj-ea"/>
                <a:cs typeface="+mj-cs"/>
                <a:sym typeface="Times New Roman"/>
              </a:defRPr>
            </a:pPr>
            <a:r>
              <a:t>From each video:</a:t>
            </a:r>
          </a:p>
          <a:p>
            <a:pPr lvl="1" marL="1190625" indent="-555625" defTabSz="457200">
              <a:spcBef>
                <a:spcPts val="1200"/>
              </a:spcBef>
              <a:buSzPct val="50000"/>
              <a:buBlip>
                <a:blip r:embed="rId2"/>
              </a:buBlip>
              <a:defRPr sz="4200">
                <a:latin typeface="+mj-lt"/>
                <a:ea typeface="+mj-ea"/>
                <a:cs typeface="+mj-cs"/>
                <a:sym typeface="Times New Roman"/>
              </a:defRPr>
            </a:pPr>
            <a:r>
              <a:t>Audio is extracted and resampled.</a:t>
            </a:r>
          </a:p>
          <a:p>
            <a:pPr lvl="1" marL="1190625" indent="-555625" defTabSz="457200">
              <a:spcBef>
                <a:spcPts val="1200"/>
              </a:spcBef>
              <a:buSzPct val="50000"/>
              <a:buBlip>
                <a:blip r:embed="rId2"/>
              </a:buBlip>
              <a:defRPr sz="4200">
                <a:latin typeface="+mj-lt"/>
                <a:ea typeface="+mj-ea"/>
                <a:cs typeface="+mj-cs"/>
                <a:sym typeface="Times New Roman"/>
              </a:defRPr>
            </a:pPr>
            <a:r>
              <a:t>Frames are extracted from the video stream.</a:t>
            </a:r>
          </a:p>
          <a:p>
            <a:pPr lvl="1" marL="1190625" indent="-555625" defTabSz="457200">
              <a:spcBef>
                <a:spcPts val="1200"/>
              </a:spcBef>
              <a:buSzPct val="50000"/>
              <a:buBlip>
                <a:blip r:embed="rId2"/>
              </a:buBlip>
              <a:defRPr sz="4200">
                <a:latin typeface="+mj-lt"/>
                <a:ea typeface="+mj-ea"/>
                <a:cs typeface="+mj-cs"/>
                <a:sym typeface="Times New Roman"/>
              </a:defRPr>
            </a:pPr>
            <a:r>
              <a:t>Face detection is performed.</a:t>
            </a:r>
          </a:p>
          <a:p>
            <a:pPr lvl="1" marL="1190625" indent="-555625" defTabSz="457200">
              <a:spcBef>
                <a:spcPts val="1200"/>
              </a:spcBef>
              <a:buSzPct val="50000"/>
              <a:buBlip>
                <a:blip r:embed="rId2"/>
              </a:buBlip>
              <a:defRPr sz="4200">
                <a:latin typeface="+mj-lt"/>
                <a:ea typeface="+mj-ea"/>
                <a:cs typeface="+mj-cs"/>
                <a:sym typeface="Times New Roman"/>
              </a:defRPr>
            </a:pPr>
            <a:r>
              <a:t>Mouth region is cropped and resized.</a:t>
            </a:r>
          </a:p>
          <a:p>
            <a:pPr marL="558800" indent="-558800" defTabSz="457200">
              <a:spcBef>
                <a:spcPts val="1200"/>
              </a:spcBef>
              <a:defRPr sz="4200">
                <a:latin typeface="+mj-lt"/>
                <a:ea typeface="+mj-ea"/>
                <a:cs typeface="+mj-cs"/>
                <a:sym typeface="Times New Roman"/>
              </a:defRPr>
            </a:pPr>
            <a:r>
              <a:t>This preprocessing pipeline ensures that both audio and visual inputs are standardized before feature extraction</a:t>
            </a:r>
          </a:p>
          <a:p>
            <a:pPr marL="0" indent="0" defTabSz="457200">
              <a:spcBef>
                <a:spcPts val="0"/>
              </a:spcBef>
              <a:buSzTx/>
              <a:buNone/>
              <a:defRPr b="1" sz="4200">
                <a:latin typeface="+mj-lt"/>
                <a:ea typeface="+mj-ea"/>
                <a:cs typeface="+mj-cs"/>
                <a:sym typeface="Times New Roman"/>
              </a:defRPr>
            </a:pPr>
            <a:r>
              <a:t>Audio Feature Extraction</a:t>
            </a:r>
          </a:p>
          <a:p>
            <a:pPr marL="558800" indent="-558800" defTabSz="457200">
              <a:spcBef>
                <a:spcPts val="1200"/>
              </a:spcBef>
              <a:defRPr sz="4200">
                <a:latin typeface="+mj-lt"/>
                <a:ea typeface="+mj-ea"/>
                <a:cs typeface="+mj-cs"/>
                <a:sym typeface="Times New Roman"/>
              </a:defRPr>
            </a:pPr>
            <a:r>
              <a:t>Speech signals are passed through a pretrained Wav2Vec 2.0 model implemented in PyTorch.</a:t>
            </a:r>
          </a:p>
          <a:p>
            <a:pPr marL="558800" indent="-558800" defTabSz="457200">
              <a:spcBef>
                <a:spcPts val="1200"/>
              </a:spcBef>
              <a:defRPr sz="4200">
                <a:latin typeface="+mj-lt"/>
                <a:ea typeface="+mj-ea"/>
                <a:cs typeface="+mj-cs"/>
                <a:sym typeface="Times New Roman"/>
              </a:defRPr>
            </a:pPr>
            <a:r>
              <a:t>The model generates contextual phoneme-aware embeddings without requiring explicit phoneme segmentation.</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Implementation"/>
          <p:cNvSpPr txBox="1"/>
          <p:nvPr>
            <p:ph type="title"/>
          </p:nvPr>
        </p:nvSpPr>
        <p:spPr>
          <a:prstGeom prst="rect">
            <a:avLst/>
          </a:prstGeom>
        </p:spPr>
        <p:txBody>
          <a:bodyPr/>
          <a:lstStyle/>
          <a:p>
            <a:pPr/>
            <a:r>
              <a:t>Implementation</a:t>
            </a:r>
          </a:p>
        </p:txBody>
      </p:sp>
      <p:sp>
        <p:nvSpPr>
          <p:cNvPr id="182" name="Audio Feature Extraction…"/>
          <p:cNvSpPr txBox="1"/>
          <p:nvPr>
            <p:ph type="body" idx="4294967295"/>
          </p:nvPr>
        </p:nvSpPr>
        <p:spPr>
          <a:prstGeom prst="rect">
            <a:avLst/>
          </a:prstGeom>
        </p:spPr>
        <p:txBody>
          <a:bodyPr anchor="t"/>
          <a:lstStyle/>
          <a:p>
            <a:pPr marL="0" indent="0" defTabSz="457200">
              <a:spcBef>
                <a:spcPts val="0"/>
              </a:spcBef>
              <a:buSzTx/>
              <a:buNone/>
              <a:defRPr b="1" sz="4200">
                <a:latin typeface="+mj-lt"/>
                <a:ea typeface="+mj-ea"/>
                <a:cs typeface="+mj-cs"/>
                <a:sym typeface="Times New Roman"/>
              </a:defRPr>
            </a:pPr>
            <a:r>
              <a:t>Audio Feature Extraction</a:t>
            </a:r>
          </a:p>
          <a:p>
            <a:pPr marL="558800" indent="-558800" defTabSz="457200">
              <a:spcBef>
                <a:spcPts val="1200"/>
              </a:spcBef>
              <a:defRPr sz="4200">
                <a:latin typeface="Times Roman"/>
                <a:ea typeface="Times Roman"/>
                <a:cs typeface="Times Roman"/>
                <a:sym typeface="Times Roman"/>
              </a:defRPr>
            </a:pPr>
            <a:r>
              <a:t>To improve training efficiency:</a:t>
            </a:r>
          </a:p>
          <a:p>
            <a:pPr lvl="1" marL="1190625" indent="-555625" defTabSz="457200">
              <a:spcBef>
                <a:spcPts val="1200"/>
              </a:spcBef>
              <a:buSzPct val="50000"/>
              <a:buBlip>
                <a:blip r:embed="rId2"/>
              </a:buBlip>
              <a:defRPr sz="4200">
                <a:latin typeface="Times Roman"/>
                <a:ea typeface="Times Roman"/>
                <a:cs typeface="Times Roman"/>
                <a:sym typeface="Times Roman"/>
              </a:defRPr>
            </a:pPr>
            <a:r>
              <a:t>Extracted embeddings are cached to disk</a:t>
            </a:r>
          </a:p>
          <a:p>
            <a:pPr lvl="1" marL="1190625" indent="-555625" defTabSz="457200">
              <a:spcBef>
                <a:spcPts val="1200"/>
              </a:spcBef>
              <a:buSzPct val="50000"/>
              <a:buBlip>
                <a:blip r:embed="rId2"/>
              </a:buBlip>
              <a:defRPr sz="4200">
                <a:latin typeface="Times Roman"/>
                <a:ea typeface="Times Roman"/>
                <a:cs typeface="Times Roman"/>
                <a:sym typeface="Times Roman"/>
              </a:defRPr>
            </a:pPr>
            <a:r>
              <a:t>Feature reuse avoids repeated forward passes</a:t>
            </a:r>
          </a:p>
          <a:p>
            <a:pPr marL="558800" indent="-558800" defTabSz="457200">
              <a:spcBef>
                <a:spcPts val="1200"/>
              </a:spcBef>
              <a:defRPr sz="4200">
                <a:latin typeface="Times Roman"/>
                <a:ea typeface="Times Roman"/>
                <a:cs typeface="Times Roman"/>
                <a:sym typeface="Times Roman"/>
              </a:defRPr>
            </a:pPr>
            <a:r>
              <a:t>This significantly reduces computational overhead during multiple training epochs.</a:t>
            </a:r>
          </a:p>
          <a:p>
            <a:pPr marL="0" indent="0" defTabSz="457200">
              <a:spcBef>
                <a:spcPts val="0"/>
              </a:spcBef>
              <a:buSzTx/>
              <a:buNone/>
              <a:defRPr b="1" sz="4200">
                <a:latin typeface="+mj-lt"/>
                <a:ea typeface="+mj-ea"/>
                <a:cs typeface="+mj-cs"/>
                <a:sym typeface="Times New Roman"/>
              </a:defRPr>
            </a:pPr>
            <a:r>
              <a:t>Visual Feature Extraction</a:t>
            </a:r>
          </a:p>
          <a:p>
            <a:pPr marL="558800" indent="-558800" defTabSz="457200">
              <a:spcBef>
                <a:spcPts val="0"/>
              </a:spcBef>
              <a:defRPr sz="4200">
                <a:latin typeface="+mj-lt"/>
                <a:ea typeface="+mj-ea"/>
                <a:cs typeface="+mj-cs"/>
                <a:sym typeface="Times New Roman"/>
              </a:defRPr>
            </a:pPr>
            <a:r>
              <a:t>For the visual stream, the following are used:</a:t>
            </a:r>
          </a:p>
          <a:p>
            <a:pPr lvl="1" marL="1190625" indent="-555625" defTabSz="457200">
              <a:spcBef>
                <a:spcPts val="0"/>
              </a:spcBef>
              <a:buSzPct val="50000"/>
              <a:buBlip>
                <a:blip r:embed="rId2"/>
              </a:buBlip>
              <a:defRPr sz="4200">
                <a:latin typeface="+mj-lt"/>
                <a:ea typeface="+mj-ea"/>
                <a:cs typeface="+mj-cs"/>
                <a:sym typeface="Times New Roman"/>
              </a:defRPr>
            </a:pPr>
            <a:r>
              <a:t>OpenCV is used to extract frames</a:t>
            </a:r>
          </a:p>
          <a:p>
            <a:pPr lvl="1" marL="1190625" indent="-555625" defTabSz="457200">
              <a:spcBef>
                <a:spcPts val="0"/>
              </a:spcBef>
              <a:buSzPct val="50000"/>
              <a:buBlip>
                <a:blip r:embed="rId2"/>
              </a:buBlip>
              <a:defRPr sz="4200">
                <a:latin typeface="+mj-lt"/>
                <a:ea typeface="+mj-ea"/>
                <a:cs typeface="+mj-cs"/>
                <a:sym typeface="Times New Roman"/>
              </a:defRPr>
            </a:pPr>
            <a:r>
              <a:t>Face detection is used to extract the face region</a:t>
            </a:r>
          </a:p>
          <a:p>
            <a:pPr lvl="1" marL="1190625" indent="-555625" defTabSz="457200">
              <a:spcBef>
                <a:spcPts val="0"/>
              </a:spcBef>
              <a:buSzPct val="50000"/>
              <a:buBlip>
                <a:blip r:embed="rId2"/>
              </a:buBlip>
              <a:defRPr sz="4200">
                <a:latin typeface="+mj-lt"/>
                <a:ea typeface="+mj-ea"/>
                <a:cs typeface="+mj-cs"/>
                <a:sym typeface="Times New Roman"/>
              </a:defRPr>
            </a:pPr>
            <a:r>
              <a:t>Normalization of the mouth region is done</a:t>
            </a:r>
          </a:p>
          <a:p>
            <a:pPr marL="558800" indent="-558800" defTabSz="457200">
              <a:spcBef>
                <a:spcPts val="0"/>
              </a:spcBef>
              <a:defRPr sz="4200">
                <a:latin typeface="+mj-lt"/>
                <a:ea typeface="+mj-ea"/>
                <a:cs typeface="+mj-cs"/>
                <a:sym typeface="Times New Roman"/>
              </a:defRPr>
            </a:pPr>
            <a:r>
              <a:t>The cropped images are then passed through a ResNet-18 backbone to obtain feature embeddings that are viseme-oriented. </a:t>
            </a:r>
          </a:p>
          <a:p>
            <a:pPr marL="558800" indent="-558800" defTabSz="457200">
              <a:spcBef>
                <a:spcPts val="0"/>
              </a:spcBef>
              <a:defRPr sz="4200">
                <a:latin typeface="+mj-lt"/>
                <a:ea typeface="+mj-ea"/>
                <a:cs typeface="+mj-cs"/>
                <a:sym typeface="Times New Roman"/>
              </a:defRPr>
            </a:pPr>
            <a:r>
              <a:t>The choice of the ResNet-18 is due to a good balance between efficiency and effectiveness.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Implementation"/>
          <p:cNvSpPr txBox="1"/>
          <p:nvPr>
            <p:ph type="title"/>
          </p:nvPr>
        </p:nvSpPr>
        <p:spPr>
          <a:prstGeom prst="rect">
            <a:avLst/>
          </a:prstGeom>
        </p:spPr>
        <p:txBody>
          <a:bodyPr/>
          <a:lstStyle/>
          <a:p>
            <a:pPr/>
            <a:r>
              <a:t>Implementation</a:t>
            </a:r>
          </a:p>
        </p:txBody>
      </p:sp>
      <p:sp>
        <p:nvSpPr>
          <p:cNvPr id="185" name="Temporal Alignment…"/>
          <p:cNvSpPr txBox="1"/>
          <p:nvPr>
            <p:ph type="body" idx="4294967295"/>
          </p:nvPr>
        </p:nvSpPr>
        <p:spPr>
          <a:prstGeom prst="rect">
            <a:avLst/>
          </a:prstGeom>
        </p:spPr>
        <p:txBody>
          <a:bodyPr anchor="t"/>
          <a:lstStyle/>
          <a:p>
            <a:pPr marL="0" indent="0" defTabSz="370331">
              <a:spcBef>
                <a:spcPts val="0"/>
              </a:spcBef>
              <a:buSzTx/>
              <a:buNone/>
              <a:defRPr b="1" sz="3402">
                <a:latin typeface="+mj-lt"/>
                <a:ea typeface="+mj-ea"/>
                <a:cs typeface="+mj-cs"/>
                <a:sym typeface="Times New Roman"/>
              </a:defRPr>
            </a:pPr>
            <a:r>
              <a:t>Temporal Alignment</a:t>
            </a:r>
          </a:p>
          <a:p>
            <a:pPr marL="452628" indent="-452628" defTabSz="370331">
              <a:spcBef>
                <a:spcPts val="900"/>
              </a:spcBef>
              <a:defRPr sz="3402">
                <a:latin typeface="+mj-lt"/>
                <a:ea typeface="+mj-ea"/>
                <a:cs typeface="+mj-cs"/>
                <a:sym typeface="Times New Roman"/>
              </a:defRPr>
            </a:pPr>
            <a:r>
              <a:t>Audio and visual embeddings are aligned frame-wise using timestamps.</a:t>
            </a:r>
          </a:p>
          <a:p>
            <a:pPr marL="452628" indent="-452628" defTabSz="370331">
              <a:spcBef>
                <a:spcPts val="900"/>
              </a:spcBef>
              <a:defRPr sz="3402">
                <a:latin typeface="+mj-lt"/>
                <a:ea typeface="+mj-ea"/>
                <a:cs typeface="+mj-cs"/>
                <a:sym typeface="Times New Roman"/>
              </a:defRPr>
            </a:pPr>
            <a:r>
              <a:t>For each time step [t]:</a:t>
            </a:r>
          </a:p>
          <a:p>
            <a:pPr lvl="1" marL="964406" indent="-450056" defTabSz="370331">
              <a:spcBef>
                <a:spcPts val="900"/>
              </a:spcBef>
              <a:buSzPct val="50000"/>
              <a:buBlip>
                <a:blip r:embed="rId2"/>
              </a:buBlip>
              <a:defRPr sz="3402">
                <a:latin typeface="+mj-lt"/>
                <a:ea typeface="+mj-ea"/>
                <a:cs typeface="+mj-cs"/>
                <a:sym typeface="Times New Roman"/>
              </a:defRPr>
            </a:pPr>
            <a:r>
              <a:t>Phoneme embedding aₜ corresponds to visual embedding vₜ</a:t>
            </a:r>
          </a:p>
          <a:p>
            <a:pPr marL="452628" indent="-452628" defTabSz="370331">
              <a:spcBef>
                <a:spcPts val="900"/>
              </a:spcBef>
              <a:defRPr sz="3402">
                <a:latin typeface="+mj-lt"/>
                <a:ea typeface="+mj-ea"/>
                <a:cs typeface="+mj-cs"/>
                <a:sym typeface="Times New Roman"/>
              </a:defRPr>
            </a:pPr>
            <a:r>
              <a:t>This ensures that the attention mechanism compares semantically relevant audio and visual information.</a:t>
            </a:r>
          </a:p>
          <a:p>
            <a:pPr marL="452628" indent="-452628" defTabSz="370331">
              <a:spcBef>
                <a:spcPts val="900"/>
              </a:spcBef>
              <a:defRPr sz="3402">
                <a:latin typeface="+mj-lt"/>
                <a:ea typeface="+mj-ea"/>
                <a:cs typeface="+mj-cs"/>
                <a:sym typeface="Times New Roman"/>
              </a:defRPr>
            </a:pPr>
            <a:r>
              <a:t>Improper alignment would lead to incorrect mismatch detection.</a:t>
            </a:r>
          </a:p>
          <a:p>
            <a:pPr marL="0" indent="0" defTabSz="370331">
              <a:spcBef>
                <a:spcPts val="0"/>
              </a:spcBef>
              <a:buSzTx/>
              <a:buNone/>
              <a:defRPr b="1" sz="3402">
                <a:latin typeface="+mj-lt"/>
                <a:ea typeface="+mj-ea"/>
                <a:cs typeface="+mj-cs"/>
                <a:sym typeface="Times New Roman"/>
              </a:defRPr>
            </a:pPr>
            <a:r>
              <a:t>Cross-Modal Attention Module</a:t>
            </a:r>
          </a:p>
          <a:p>
            <a:pPr marL="452628" indent="-452628" defTabSz="370331">
              <a:spcBef>
                <a:spcPts val="900"/>
              </a:spcBef>
              <a:defRPr sz="3402">
                <a:latin typeface="Times Roman"/>
                <a:ea typeface="Times Roman"/>
                <a:cs typeface="Times Roman"/>
                <a:sym typeface="Times Roman"/>
              </a:defRPr>
            </a:pPr>
            <a:r>
              <a:t>The attention mechanism is implemented using PyTorch tensor operations.</a:t>
            </a:r>
          </a:p>
          <a:p>
            <a:pPr marL="452628" indent="-452628" defTabSz="370331">
              <a:spcBef>
                <a:spcPts val="900"/>
              </a:spcBef>
              <a:defRPr sz="3402">
                <a:latin typeface="Times Roman"/>
                <a:ea typeface="Times Roman"/>
                <a:cs typeface="Times Roman"/>
                <a:sym typeface="Times Roman"/>
              </a:defRPr>
            </a:pPr>
            <a:r>
              <a:t>Audio embeddings are used as queries.</a:t>
            </a:r>
            <a:br/>
            <a:r>
              <a:t>Visual embeddings are used as keys and values.</a:t>
            </a:r>
          </a:p>
          <a:p>
            <a:pPr marL="452628" indent="-452628" defTabSz="370331">
              <a:spcBef>
                <a:spcPts val="900"/>
              </a:spcBef>
              <a:defRPr sz="3402">
                <a:latin typeface="Times Roman"/>
                <a:ea typeface="Times Roman"/>
                <a:cs typeface="Times Roman"/>
                <a:sym typeface="Times Roman"/>
              </a:defRPr>
            </a:pPr>
            <a:r>
              <a:t>The attention layer computes weighted interactions between modalities, enabling the model to focus on visual articulation evidence corresponding to speech sounds.</a:t>
            </a:r>
          </a:p>
          <a:p>
            <a:pPr marL="452628" indent="-452628" defTabSz="370331">
              <a:spcBef>
                <a:spcPts val="900"/>
              </a:spcBef>
              <a:defRPr sz="3402">
                <a:latin typeface="Times Roman"/>
                <a:ea typeface="Times Roman"/>
                <a:cs typeface="Times Roman"/>
                <a:sym typeface="Times Roman"/>
              </a:defRPr>
            </a:pPr>
            <a:r>
              <a:t>The attended output is globally pooled and passed through a fully connected layer for classification</a:t>
            </a:r>
          </a:p>
          <a:p>
            <a:pPr marL="0" indent="0" defTabSz="370331">
              <a:spcBef>
                <a:spcPts val="0"/>
              </a:spcBef>
              <a:buSzTx/>
              <a:buNone/>
              <a:defRPr b="1" sz="3402">
                <a:latin typeface="+mj-lt"/>
                <a:ea typeface="+mj-ea"/>
                <a:cs typeface="+mj-cs"/>
                <a:sym typeface="Times New Roman"/>
              </a:defRPr>
            </a:pPr>
            <a:r>
              <a:t>Classification Layer</a:t>
            </a:r>
          </a:p>
          <a:p>
            <a:pPr marL="452628" indent="-452628" defTabSz="370331">
              <a:spcBef>
                <a:spcPts val="900"/>
              </a:spcBef>
              <a:defRPr sz="3402">
                <a:latin typeface="Times Roman"/>
                <a:ea typeface="Times Roman"/>
                <a:cs typeface="Times Roman"/>
                <a:sym typeface="Times Roman"/>
              </a:defRPr>
            </a:pPr>
            <a:r>
              <a:t>This layer is responsible to predict the outcome of the deepfake detection such as whether the video is Real (or) Fake.</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Implementation"/>
          <p:cNvSpPr txBox="1"/>
          <p:nvPr>
            <p:ph type="title"/>
          </p:nvPr>
        </p:nvSpPr>
        <p:spPr>
          <a:prstGeom prst="rect">
            <a:avLst/>
          </a:prstGeom>
        </p:spPr>
        <p:txBody>
          <a:bodyPr/>
          <a:lstStyle/>
          <a:p>
            <a:pPr/>
            <a:r>
              <a:t>Implementation</a:t>
            </a:r>
          </a:p>
        </p:txBody>
      </p:sp>
      <p:sp>
        <p:nvSpPr>
          <p:cNvPr id="188" name="Training Configuration…"/>
          <p:cNvSpPr txBox="1"/>
          <p:nvPr>
            <p:ph type="body" idx="4294967295"/>
          </p:nvPr>
        </p:nvSpPr>
        <p:spPr>
          <a:prstGeom prst="rect">
            <a:avLst/>
          </a:prstGeom>
        </p:spPr>
        <p:txBody>
          <a:bodyPr anchor="t"/>
          <a:lstStyle/>
          <a:p>
            <a:pPr marL="0" indent="0" defTabSz="374904">
              <a:spcBef>
                <a:spcPts val="0"/>
              </a:spcBef>
              <a:buSzTx/>
              <a:buNone/>
              <a:defRPr b="1" sz="3443">
                <a:latin typeface="+mj-lt"/>
                <a:ea typeface="+mj-ea"/>
                <a:cs typeface="+mj-cs"/>
                <a:sym typeface="Times New Roman"/>
              </a:defRPr>
            </a:pPr>
            <a:r>
              <a:t>Training Configuration</a:t>
            </a:r>
          </a:p>
          <a:p>
            <a:pPr marL="458216" indent="-458216" defTabSz="374904">
              <a:spcBef>
                <a:spcPts val="900"/>
              </a:spcBef>
              <a:defRPr sz="3443">
                <a:latin typeface="+mj-lt"/>
                <a:ea typeface="+mj-ea"/>
                <a:cs typeface="+mj-cs"/>
                <a:sym typeface="Times New Roman"/>
              </a:defRPr>
            </a:pPr>
            <a:r>
              <a:t>Training is performed using:</a:t>
            </a:r>
          </a:p>
          <a:p>
            <a:pPr lvl="1" marL="976312" indent="-455612" defTabSz="374904">
              <a:spcBef>
                <a:spcPts val="900"/>
              </a:spcBef>
              <a:buSzPct val="50000"/>
              <a:buBlip>
                <a:blip r:embed="rId2"/>
              </a:buBlip>
              <a:defRPr sz="3443">
                <a:latin typeface="+mj-lt"/>
                <a:ea typeface="+mj-ea"/>
                <a:cs typeface="+mj-cs"/>
                <a:sym typeface="Times New Roman"/>
              </a:defRPr>
            </a:pPr>
            <a:r>
              <a:t>Optimizer: AdamW</a:t>
            </a:r>
          </a:p>
          <a:p>
            <a:pPr lvl="1" marL="976312" indent="-455612" defTabSz="374904">
              <a:spcBef>
                <a:spcPts val="900"/>
              </a:spcBef>
              <a:buSzPct val="50000"/>
              <a:buBlip>
                <a:blip r:embed="rId2"/>
              </a:buBlip>
              <a:defRPr sz="3443">
                <a:latin typeface="+mj-lt"/>
                <a:ea typeface="+mj-ea"/>
                <a:cs typeface="+mj-cs"/>
                <a:sym typeface="Times New Roman"/>
              </a:defRPr>
            </a:pPr>
            <a:r>
              <a:t>Loss Function: Binary Cross Entropy</a:t>
            </a:r>
          </a:p>
          <a:p>
            <a:pPr lvl="1" marL="976312" indent="-455612" defTabSz="374904">
              <a:spcBef>
                <a:spcPts val="900"/>
              </a:spcBef>
              <a:buSzPct val="50000"/>
              <a:buBlip>
                <a:blip r:embed="rId2"/>
              </a:buBlip>
              <a:defRPr sz="3443">
                <a:latin typeface="+mj-lt"/>
                <a:ea typeface="+mj-ea"/>
                <a:cs typeface="+mj-cs"/>
                <a:sym typeface="Times New Roman"/>
              </a:defRPr>
            </a:pPr>
            <a:r>
              <a:t>Learning Rate: 1 × 10⁻⁴</a:t>
            </a:r>
          </a:p>
          <a:p>
            <a:pPr lvl="1" marL="976312" indent="-455612" defTabSz="374904">
              <a:spcBef>
                <a:spcPts val="900"/>
              </a:spcBef>
              <a:buSzPct val="50000"/>
              <a:buBlip>
                <a:blip r:embed="rId2"/>
              </a:buBlip>
              <a:defRPr sz="3443">
                <a:latin typeface="+mj-lt"/>
                <a:ea typeface="+mj-ea"/>
                <a:cs typeface="+mj-cs"/>
                <a:sym typeface="Times New Roman"/>
              </a:defRPr>
            </a:pPr>
            <a:r>
              <a:t>Weight Decay: 1 × 10⁻²</a:t>
            </a:r>
          </a:p>
          <a:p>
            <a:pPr lvl="1" marL="976312" indent="-455612" defTabSz="374904">
              <a:spcBef>
                <a:spcPts val="900"/>
              </a:spcBef>
              <a:buSzPct val="50000"/>
              <a:buBlip>
                <a:blip r:embed="rId2"/>
              </a:buBlip>
              <a:defRPr sz="3443">
                <a:latin typeface="+mj-lt"/>
                <a:ea typeface="+mj-ea"/>
                <a:cs typeface="+mj-cs"/>
                <a:sym typeface="Times New Roman"/>
              </a:defRPr>
            </a:pPr>
            <a:r>
              <a:t>Batch Size: 32</a:t>
            </a:r>
          </a:p>
          <a:p>
            <a:pPr lvl="1" marL="976312" indent="-455612" defTabSz="374904">
              <a:spcBef>
                <a:spcPts val="900"/>
              </a:spcBef>
              <a:buSzPct val="50000"/>
              <a:buBlip>
                <a:blip r:embed="rId2"/>
              </a:buBlip>
              <a:defRPr sz="3443">
                <a:latin typeface="+mj-lt"/>
                <a:ea typeface="+mj-ea"/>
                <a:cs typeface="+mj-cs"/>
                <a:sym typeface="Times New Roman"/>
              </a:defRPr>
            </a:pPr>
            <a:r>
              <a:t>Epochs: 50</a:t>
            </a:r>
          </a:p>
          <a:p>
            <a:pPr marL="458216" indent="-458216" defTabSz="374904">
              <a:spcBef>
                <a:spcPts val="900"/>
              </a:spcBef>
              <a:defRPr sz="3443">
                <a:latin typeface="+mj-lt"/>
                <a:ea typeface="+mj-ea"/>
                <a:cs typeface="+mj-cs"/>
                <a:sym typeface="Times New Roman"/>
              </a:defRPr>
            </a:pPr>
            <a:r>
              <a:t>To address dataset imbalance:</a:t>
            </a:r>
          </a:p>
          <a:p>
            <a:pPr lvl="1" marL="976312" indent="-455612" defTabSz="374904">
              <a:spcBef>
                <a:spcPts val="900"/>
              </a:spcBef>
              <a:buSzPct val="50000"/>
              <a:buBlip>
                <a:blip r:embed="rId2"/>
              </a:buBlip>
              <a:defRPr sz="3443">
                <a:latin typeface="+mj-lt"/>
                <a:ea typeface="+mj-ea"/>
                <a:cs typeface="+mj-cs"/>
                <a:sym typeface="Times New Roman"/>
              </a:defRPr>
            </a:pPr>
            <a:r>
              <a:t>Class weighting is applied</a:t>
            </a:r>
          </a:p>
          <a:p>
            <a:pPr marL="458216" indent="-458216" defTabSz="374904">
              <a:spcBef>
                <a:spcPts val="900"/>
              </a:spcBef>
              <a:defRPr sz="3443">
                <a:latin typeface="+mj-lt"/>
                <a:ea typeface="+mj-ea"/>
                <a:cs typeface="+mj-cs"/>
                <a:sym typeface="Times New Roman"/>
              </a:defRPr>
            </a:pPr>
            <a:r>
              <a:t>To select the optimal operating point:</a:t>
            </a:r>
          </a:p>
          <a:p>
            <a:pPr lvl="1" marL="976312" indent="-455612" defTabSz="374904">
              <a:spcBef>
                <a:spcPts val="900"/>
              </a:spcBef>
              <a:buSzPct val="50000"/>
              <a:buBlip>
                <a:blip r:embed="rId2"/>
              </a:buBlip>
              <a:defRPr sz="3443">
                <a:latin typeface="+mj-lt"/>
                <a:ea typeface="+mj-ea"/>
                <a:cs typeface="+mj-cs"/>
                <a:sym typeface="Times New Roman"/>
              </a:defRPr>
            </a:pPr>
            <a:r>
              <a:t>Validation F1-score is computed across thresholds</a:t>
            </a:r>
          </a:p>
          <a:p>
            <a:pPr lvl="1" marL="976312" indent="-455612" defTabSz="374904">
              <a:spcBef>
                <a:spcPts val="900"/>
              </a:spcBef>
              <a:buSzPct val="50000"/>
              <a:buBlip>
                <a:blip r:embed="rId2"/>
              </a:buBlip>
              <a:defRPr sz="3443">
                <a:latin typeface="+mj-lt"/>
                <a:ea typeface="+mj-ea"/>
                <a:cs typeface="+mj-cs"/>
                <a:sym typeface="Times New Roman"/>
              </a:defRPr>
            </a:pPr>
            <a:r>
              <a:t>Optimal threshold = 0.05</a:t>
            </a:r>
          </a:p>
          <a:p>
            <a:pPr lvl="1" marL="976312" indent="-455612" defTabSz="374904">
              <a:spcBef>
                <a:spcPts val="900"/>
              </a:spcBef>
              <a:buSzPct val="50000"/>
              <a:buBlip>
                <a:blip r:embed="rId2"/>
              </a:buBlip>
              <a:defRPr sz="3443">
                <a:latin typeface="+mj-lt"/>
                <a:ea typeface="+mj-ea"/>
                <a:cs typeface="+mj-cs"/>
                <a:sym typeface="Times New Roman"/>
              </a:defRPr>
            </a:pPr>
            <a:r>
              <a:t>Same threshold applied to test set</a:t>
            </a:r>
          </a:p>
          <a:p>
            <a:pPr marL="458216" indent="-458216" defTabSz="374904">
              <a:spcBef>
                <a:spcPts val="900"/>
              </a:spcBef>
              <a:defRPr sz="3443">
                <a:latin typeface="+mj-lt"/>
                <a:ea typeface="+mj-ea"/>
                <a:cs typeface="+mj-cs"/>
                <a:sym typeface="Times New Roman"/>
              </a:defRPr>
            </a:pPr>
            <a:r>
              <a:t>Early stopping is incorporated to prevent overfitting.</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Results"/>
          <p:cNvSpPr txBox="1"/>
          <p:nvPr>
            <p:ph type="title"/>
          </p:nvPr>
        </p:nvSpPr>
        <p:spPr>
          <a:prstGeom prst="rect">
            <a:avLst/>
          </a:prstGeom>
        </p:spPr>
        <p:txBody>
          <a:bodyPr/>
          <a:lstStyle/>
          <a:p>
            <a:pPr/>
            <a:r>
              <a:t>Results</a:t>
            </a:r>
          </a:p>
        </p:txBody>
      </p:sp>
      <p:sp>
        <p:nvSpPr>
          <p:cNvPr id="191" name="Quantitative Results…"/>
          <p:cNvSpPr txBox="1"/>
          <p:nvPr>
            <p:ph type="body" idx="4294967295"/>
          </p:nvPr>
        </p:nvSpPr>
        <p:spPr>
          <a:xfrm>
            <a:off x="1689100" y="2209800"/>
            <a:ext cx="21005800" cy="9296400"/>
          </a:xfrm>
          <a:prstGeom prst="rect">
            <a:avLst/>
          </a:prstGeom>
        </p:spPr>
        <p:txBody>
          <a:bodyPr anchor="t"/>
          <a:lstStyle/>
          <a:p>
            <a:pPr marL="0" indent="0" defTabSz="457200">
              <a:spcBef>
                <a:spcPts val="0"/>
              </a:spcBef>
              <a:buSzTx/>
              <a:buNone/>
              <a:defRPr b="1" sz="4200">
                <a:latin typeface="+mj-lt"/>
                <a:ea typeface="+mj-ea"/>
                <a:cs typeface="+mj-cs"/>
                <a:sym typeface="Times New Roman"/>
              </a:defRPr>
            </a:pPr>
            <a:r>
              <a:t>Quantitative Results</a:t>
            </a:r>
          </a:p>
          <a:p>
            <a:pPr marL="558800" indent="-558800" defTabSz="457200">
              <a:spcBef>
                <a:spcPts val="1200"/>
              </a:spcBef>
              <a:defRPr sz="4200">
                <a:latin typeface="+mj-lt"/>
                <a:ea typeface="+mj-ea"/>
                <a:cs typeface="+mj-cs"/>
                <a:sym typeface="Times New Roman"/>
              </a:defRPr>
            </a:pPr>
            <a:r>
              <a:t>The proposed phoneme–viseme based framework achieves:</a:t>
            </a:r>
          </a:p>
          <a:p>
            <a:pPr lvl="1" marL="1190625" indent="-555625" defTabSz="457200">
              <a:spcBef>
                <a:spcPts val="1200"/>
              </a:spcBef>
              <a:buSzPct val="50000"/>
              <a:buBlip>
                <a:blip r:embed="rId2"/>
              </a:buBlip>
              <a:defRPr b="1" sz="4200">
                <a:latin typeface="+mj-lt"/>
                <a:ea typeface="+mj-ea"/>
                <a:cs typeface="+mj-cs"/>
                <a:sym typeface="Times New Roman"/>
              </a:defRPr>
            </a:pPr>
            <a:r>
              <a:t>Accuracy:</a:t>
            </a:r>
            <a:r>
              <a:rPr b="0"/>
              <a:t> 97.66%</a:t>
            </a:r>
            <a:endParaRPr b="0"/>
          </a:p>
          <a:p>
            <a:pPr lvl="1" marL="1190625" indent="-555625" defTabSz="457200">
              <a:spcBef>
                <a:spcPts val="1200"/>
              </a:spcBef>
              <a:buSzPct val="50000"/>
              <a:buBlip>
                <a:blip r:embed="rId2"/>
              </a:buBlip>
              <a:defRPr b="1" sz="4200">
                <a:latin typeface="+mj-lt"/>
                <a:ea typeface="+mj-ea"/>
                <a:cs typeface="+mj-cs"/>
                <a:sym typeface="Times New Roman"/>
              </a:defRPr>
            </a:pPr>
            <a:r>
              <a:t>F1-Score:</a:t>
            </a:r>
            <a:r>
              <a:rPr b="0"/>
              <a:t> 0.988</a:t>
            </a:r>
            <a:endParaRPr b="0"/>
          </a:p>
          <a:p>
            <a:pPr lvl="1" marL="1190625" indent="-555625" defTabSz="457200">
              <a:spcBef>
                <a:spcPts val="1200"/>
              </a:spcBef>
              <a:buSzPct val="50000"/>
              <a:buBlip>
                <a:blip r:embed="rId2"/>
              </a:buBlip>
              <a:defRPr b="1" sz="4200">
                <a:latin typeface="+mj-lt"/>
                <a:ea typeface="+mj-ea"/>
                <a:cs typeface="+mj-cs"/>
                <a:sym typeface="Times New Roman"/>
              </a:defRPr>
            </a:pPr>
            <a:r>
              <a:t>ROC-AUC:</a:t>
            </a:r>
            <a:r>
              <a:rPr b="0"/>
              <a:t> 0.80</a:t>
            </a:r>
            <a:endParaRPr b="0"/>
          </a:p>
          <a:p>
            <a:pPr marL="558800" indent="-558800" defTabSz="457200">
              <a:spcBef>
                <a:spcPts val="1200"/>
              </a:spcBef>
              <a:defRPr sz="4200">
                <a:latin typeface="+mj-lt"/>
                <a:ea typeface="+mj-ea"/>
                <a:cs typeface="+mj-cs"/>
                <a:sym typeface="Times New Roman"/>
              </a:defRPr>
            </a:pPr>
            <a:r>
              <a:t>The model demonstrates stable performance across validation and test splits, indicating strong generalization under subject-independent evaluation.</a:t>
            </a:r>
          </a:p>
          <a:p>
            <a:pPr marL="0" indent="0" defTabSz="457200">
              <a:spcBef>
                <a:spcPts val="0"/>
              </a:spcBef>
              <a:buSzTx/>
              <a:buNone/>
              <a:defRPr b="1" sz="4200">
                <a:latin typeface="+mj-lt"/>
                <a:ea typeface="+mj-ea"/>
                <a:cs typeface="+mj-cs"/>
                <a:sym typeface="Times New Roman"/>
              </a:defRPr>
            </a:pPr>
            <a:r>
              <a:t>Comparison with Baselines</a:t>
            </a:r>
          </a:p>
        </p:txBody>
      </p:sp>
      <p:pic>
        <p:nvPicPr>
          <p:cNvPr id="192" name="pasted-movie.png" descr="pasted-movie.png"/>
          <p:cNvPicPr>
            <a:picLocks noChangeAspect="1"/>
          </p:cNvPicPr>
          <p:nvPr/>
        </p:nvPicPr>
        <p:blipFill>
          <a:blip r:embed="rId3">
            <a:extLst/>
          </a:blip>
          <a:stretch>
            <a:fillRect/>
          </a:stretch>
        </p:blipFill>
        <p:spPr>
          <a:xfrm>
            <a:off x="1600200" y="8054028"/>
            <a:ext cx="13444488" cy="4516744"/>
          </a:xfrm>
          <a:prstGeom prst="rect">
            <a:avLst/>
          </a:prstGeom>
          <a:ln w="12700">
            <a:miter lim="400000"/>
          </a:ln>
        </p:spPr>
      </p:pic>
      <p:pic>
        <p:nvPicPr>
          <p:cNvPr id="193" name="pasted-movie.png" descr="pasted-movie.png"/>
          <p:cNvPicPr>
            <a:picLocks noChangeAspect="1"/>
          </p:cNvPicPr>
          <p:nvPr/>
        </p:nvPicPr>
        <p:blipFill>
          <a:blip r:embed="rId4">
            <a:extLst/>
          </a:blip>
          <a:stretch>
            <a:fillRect/>
          </a:stretch>
        </p:blipFill>
        <p:spPr>
          <a:xfrm>
            <a:off x="15214599" y="7017226"/>
            <a:ext cx="8182148" cy="5954785"/>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Results"/>
          <p:cNvSpPr txBox="1"/>
          <p:nvPr>
            <p:ph type="title"/>
          </p:nvPr>
        </p:nvSpPr>
        <p:spPr>
          <a:prstGeom prst="rect">
            <a:avLst/>
          </a:prstGeom>
        </p:spPr>
        <p:txBody>
          <a:bodyPr/>
          <a:lstStyle/>
          <a:p>
            <a:pPr/>
            <a:r>
              <a:t>Results</a:t>
            </a:r>
          </a:p>
        </p:txBody>
      </p:sp>
      <p:sp>
        <p:nvSpPr>
          <p:cNvPr id="196" name="ROC Curve and Confusion Matrix…"/>
          <p:cNvSpPr txBox="1"/>
          <p:nvPr>
            <p:ph type="body" idx="4294967295"/>
          </p:nvPr>
        </p:nvSpPr>
        <p:spPr>
          <a:xfrm>
            <a:off x="1689099" y="2650579"/>
            <a:ext cx="21158797" cy="9795421"/>
          </a:xfrm>
          <a:prstGeom prst="rect">
            <a:avLst/>
          </a:prstGeom>
        </p:spPr>
        <p:txBody>
          <a:bodyPr anchor="t"/>
          <a:lstStyle/>
          <a:p>
            <a:pPr marL="0" indent="0" defTabSz="457200">
              <a:spcBef>
                <a:spcPts val="0"/>
              </a:spcBef>
              <a:buSzTx/>
              <a:buNone/>
              <a:defRPr b="1" sz="4200">
                <a:latin typeface="+mj-lt"/>
                <a:ea typeface="+mj-ea"/>
                <a:cs typeface="+mj-cs"/>
                <a:sym typeface="Times New Roman"/>
              </a:defRPr>
            </a:pPr>
            <a:r>
              <a:t>ROC Curve and Confusion Matrix</a:t>
            </a:r>
          </a:p>
          <a:p>
            <a:pPr marL="558800" indent="-558800" defTabSz="457200">
              <a:spcBef>
                <a:spcPts val="1200"/>
              </a:spcBef>
              <a:defRPr sz="4200">
                <a:latin typeface="+mj-lt"/>
                <a:ea typeface="+mj-ea"/>
                <a:cs typeface="+mj-cs"/>
                <a:sym typeface="Times New Roman"/>
              </a:defRPr>
            </a:pPr>
            <a:r>
              <a:t>The confusion matrix shows the relation of Low false positives and Low false negatives</a:t>
            </a:r>
          </a:p>
          <a:p>
            <a:pPr marL="558800" indent="-558800" defTabSz="457200">
              <a:spcBef>
                <a:spcPts val="1200"/>
              </a:spcBef>
              <a:defRPr sz="4200">
                <a:latin typeface="+mj-lt"/>
                <a:ea typeface="+mj-ea"/>
                <a:cs typeface="+mj-cs"/>
                <a:sym typeface="Times New Roman"/>
              </a:defRPr>
            </a:pPr>
            <a:r>
              <a:t>The ROC curve confirms consistent discrimination across operating thresholds.</a:t>
            </a:r>
          </a:p>
          <a:p>
            <a:pPr marL="558800" indent="-558800" defTabSz="457200">
              <a:spcBef>
                <a:spcPts val="1200"/>
              </a:spcBef>
              <a:defRPr sz="4200">
                <a:latin typeface="+mj-lt"/>
                <a:ea typeface="+mj-ea"/>
                <a:cs typeface="+mj-cs"/>
                <a:sym typeface="Times New Roman"/>
              </a:defRPr>
            </a:pPr>
            <a:r>
              <a:t>The optimized threshold (0.05) yields the best balance between precision and recall under class imbalance conditions.</a:t>
            </a:r>
          </a:p>
        </p:txBody>
      </p:sp>
      <p:pic>
        <p:nvPicPr>
          <p:cNvPr id="197" name="roc_curve.png" descr="roc_curve.png"/>
          <p:cNvPicPr>
            <a:picLocks noChangeAspect="1"/>
          </p:cNvPicPr>
          <p:nvPr/>
        </p:nvPicPr>
        <p:blipFill>
          <a:blip r:embed="rId2">
            <a:extLst/>
          </a:blip>
          <a:stretch>
            <a:fillRect/>
          </a:stretch>
        </p:blipFill>
        <p:spPr>
          <a:xfrm>
            <a:off x="3530599" y="6110957"/>
            <a:ext cx="8470219" cy="7427244"/>
          </a:xfrm>
          <a:prstGeom prst="rect">
            <a:avLst/>
          </a:prstGeom>
          <a:ln w="12700">
            <a:miter lim="400000"/>
          </a:ln>
        </p:spPr>
      </p:pic>
      <p:pic>
        <p:nvPicPr>
          <p:cNvPr id="198" name="confusion_matrix.png" descr="confusion_matrix.png"/>
          <p:cNvPicPr>
            <a:picLocks noChangeAspect="1"/>
          </p:cNvPicPr>
          <p:nvPr/>
        </p:nvPicPr>
        <p:blipFill>
          <a:blip r:embed="rId3">
            <a:extLst/>
          </a:blip>
          <a:stretch>
            <a:fillRect/>
          </a:stretch>
        </p:blipFill>
        <p:spPr>
          <a:xfrm>
            <a:off x="13169899" y="6039984"/>
            <a:ext cx="8236828" cy="7161666"/>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Challenges"/>
          <p:cNvSpPr txBox="1"/>
          <p:nvPr>
            <p:ph type="title"/>
          </p:nvPr>
        </p:nvSpPr>
        <p:spPr>
          <a:prstGeom prst="rect">
            <a:avLst/>
          </a:prstGeom>
        </p:spPr>
        <p:txBody>
          <a:bodyPr/>
          <a:lstStyle/>
          <a:p>
            <a:pPr/>
            <a:r>
              <a:t>Challenges</a:t>
            </a:r>
          </a:p>
        </p:txBody>
      </p:sp>
      <p:sp>
        <p:nvSpPr>
          <p:cNvPr id="201" name="One of the major issues that had to be addressed was the computational complexity involved in processing the audio-visual data. The processing of the data, especially in the case of the Wav2Vec 2.0 model for the extraction of phoneme-aware embeddings and"/>
          <p:cNvSpPr txBox="1"/>
          <p:nvPr>
            <p:ph type="body" idx="4294967295"/>
          </p:nvPr>
        </p:nvSpPr>
        <p:spPr>
          <a:prstGeom prst="rect">
            <a:avLst/>
          </a:prstGeom>
        </p:spPr>
        <p:txBody>
          <a:bodyPr anchor="t"/>
          <a:lstStyle/>
          <a:p>
            <a:pPr marL="553212" indent="-553212" defTabSz="452627">
              <a:spcBef>
                <a:spcPts val="0"/>
              </a:spcBef>
              <a:defRPr sz="4158">
                <a:latin typeface="+mj-lt"/>
                <a:ea typeface="+mj-ea"/>
                <a:cs typeface="+mj-cs"/>
                <a:sym typeface="Times New Roman"/>
              </a:defRPr>
            </a:pPr>
            <a:r>
              <a:t>One of the major issues that had to be addressed was the computational complexity involved in processing the audio-visual data. The processing of the data, especially in the case of the Wav2Vec 2.0 model for the extraction of phoneme-aware embeddings and ResNet-18 for the extraction of viseme-oriented features, was a major computational challenge.</a:t>
            </a:r>
          </a:p>
          <a:p>
            <a:pPr marL="553212" indent="-553212" defTabSz="452627">
              <a:spcBef>
                <a:spcPts val="0"/>
              </a:spcBef>
              <a:defRPr sz="4158">
                <a:latin typeface="+mj-lt"/>
                <a:ea typeface="+mj-ea"/>
                <a:cs typeface="+mj-cs"/>
                <a:sym typeface="Times New Roman"/>
              </a:defRPr>
            </a:pPr>
            <a:r>
              <a:t>Another major challenge that was observed was in the precise temporal alignment of the audio and video data. It was observed that any kind of misalignment in the phoneme embeddings and the corresponding viseme features would impact the performance of the cross-modal attention mechanism.</a:t>
            </a:r>
          </a:p>
          <a:p>
            <a:pPr marL="553212" indent="-553212" defTabSz="452627">
              <a:spcBef>
                <a:spcPts val="0"/>
              </a:spcBef>
              <a:defRPr sz="4158">
                <a:latin typeface="+mj-lt"/>
                <a:ea typeface="+mj-ea"/>
                <a:cs typeface="+mj-cs"/>
                <a:sym typeface="Times New Roman"/>
              </a:defRPr>
            </a:pPr>
            <a:r>
              <a:t>There was a significant imbalance in the data set, with a higher number of manipulated samples compared to the authentic samples. This had to be addressed while making the predictions.</a:t>
            </a:r>
          </a:p>
          <a:p>
            <a:pPr marL="553212" indent="-553212" defTabSz="452627">
              <a:spcBef>
                <a:spcPts val="0"/>
              </a:spcBef>
              <a:defRPr sz="4158">
                <a:latin typeface="+mj-lt"/>
                <a:ea typeface="+mj-ea"/>
                <a:cs typeface="+mj-cs"/>
                <a:sym typeface="Times New Roman"/>
              </a:defRPr>
            </a:pPr>
            <a:r>
              <a:t>Another major challenge that was observed was in the stability of the model, especially because of the cross-modal attention mechanism, which is prone to becoming sensitive to noisy features.</a:t>
            </a:r>
          </a:p>
          <a:p>
            <a:pPr marL="553212" indent="-553212" defTabSz="452627">
              <a:spcBef>
                <a:spcPts val="0"/>
              </a:spcBef>
              <a:defRPr sz="4158">
                <a:latin typeface="+mj-lt"/>
                <a:ea typeface="+mj-ea"/>
                <a:cs typeface="+mj-cs"/>
                <a:sym typeface="Times New Roman"/>
              </a:defRPr>
            </a:pPr>
            <a:r>
              <a:t>Finally, one of the major issues that had to be addressed was in making sure that all the experiments were performed in a similar fashion, so that a comparison with the baseline models could be made.</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Conclusion and Future Work"/>
          <p:cNvSpPr txBox="1"/>
          <p:nvPr>
            <p:ph type="title"/>
          </p:nvPr>
        </p:nvSpPr>
        <p:spPr>
          <a:prstGeom prst="rect">
            <a:avLst/>
          </a:prstGeom>
        </p:spPr>
        <p:txBody>
          <a:bodyPr/>
          <a:lstStyle/>
          <a:p>
            <a:pPr/>
            <a:r>
              <a:t>Conclusion and Future Work</a:t>
            </a:r>
          </a:p>
        </p:txBody>
      </p:sp>
      <p:sp>
        <p:nvSpPr>
          <p:cNvPr id="204" name="Conclusion…"/>
          <p:cNvSpPr txBox="1"/>
          <p:nvPr>
            <p:ph type="body" idx="4294967295"/>
          </p:nvPr>
        </p:nvSpPr>
        <p:spPr>
          <a:prstGeom prst="rect">
            <a:avLst/>
          </a:prstGeom>
        </p:spPr>
        <p:txBody>
          <a:bodyPr anchor="t"/>
          <a:lstStyle/>
          <a:p>
            <a:pPr marL="0" indent="0" defTabSz="402336">
              <a:spcBef>
                <a:spcPts val="0"/>
              </a:spcBef>
              <a:buSzTx/>
              <a:buNone/>
              <a:defRPr b="1" sz="3696">
                <a:latin typeface="+mj-lt"/>
                <a:ea typeface="+mj-ea"/>
                <a:cs typeface="+mj-cs"/>
                <a:sym typeface="Times New Roman"/>
              </a:defRPr>
            </a:pPr>
            <a:r>
              <a:t>Conclusion</a:t>
            </a:r>
          </a:p>
          <a:p>
            <a:pPr marL="491744" indent="-491744" defTabSz="402336">
              <a:spcBef>
                <a:spcPts val="0"/>
              </a:spcBef>
              <a:defRPr sz="3696">
                <a:latin typeface="+mj-lt"/>
                <a:ea typeface="+mj-ea"/>
                <a:cs typeface="+mj-cs"/>
                <a:sym typeface="Times New Roman"/>
              </a:defRPr>
            </a:pPr>
            <a:r>
              <a:t>In this research, a deepfake detection framework based on phoneme and viseme is proposed. This framework aims to capture the fine-grained cross-modal inconsistencies between speech and lip movement. </a:t>
            </a:r>
          </a:p>
          <a:p>
            <a:pPr marL="491744" indent="-491744" defTabSz="402336">
              <a:spcBef>
                <a:spcPts val="0"/>
              </a:spcBef>
              <a:defRPr sz="3696">
                <a:latin typeface="+mj-lt"/>
                <a:ea typeface="+mj-ea"/>
                <a:cs typeface="+mj-cs"/>
                <a:sym typeface="Times New Roman"/>
              </a:defRPr>
            </a:pPr>
            <a:r>
              <a:t>The model uses a cross-modal attention mechanism to integrate phoneme-aware audio embeddings and viseme-oriented visual features, which allows the model to capture inconsistencies in speech and lip movement that cannot be identified using traditional models. </a:t>
            </a:r>
          </a:p>
          <a:p>
            <a:pPr marL="491744" indent="-491744" defTabSz="402336">
              <a:spcBef>
                <a:spcPts val="0"/>
              </a:spcBef>
              <a:defRPr sz="3696">
                <a:latin typeface="+mj-lt"/>
                <a:ea typeface="+mj-ea"/>
                <a:cs typeface="+mj-cs"/>
                <a:sym typeface="Times New Roman"/>
              </a:defRPr>
            </a:pPr>
            <a:r>
              <a:t>The performance of the model is tested using the FakeAV dataset, and the model shows good performance with an accuracy of 97.66% and F1-score of 0.988, which proves that fine-grained articulation consistency is a reliable forensic feature for deepfake detection.</a:t>
            </a:r>
          </a:p>
          <a:p>
            <a:pPr marL="0" indent="0" defTabSz="402336">
              <a:spcBef>
                <a:spcPts val="0"/>
              </a:spcBef>
              <a:buSzTx/>
              <a:buNone/>
              <a:defRPr b="1" sz="3696">
                <a:latin typeface="+mj-lt"/>
                <a:ea typeface="+mj-ea"/>
                <a:cs typeface="+mj-cs"/>
                <a:sym typeface="Times New Roman"/>
              </a:defRPr>
            </a:pPr>
            <a:r>
              <a:t>Future Work</a:t>
            </a:r>
          </a:p>
          <a:p>
            <a:pPr marL="491744" indent="-491744" defTabSz="402336">
              <a:spcBef>
                <a:spcPts val="0"/>
              </a:spcBef>
              <a:defRPr sz="3696">
                <a:latin typeface="+mj-lt"/>
                <a:ea typeface="+mj-ea"/>
                <a:cs typeface="+mj-cs"/>
                <a:sym typeface="Times New Roman"/>
              </a:defRPr>
            </a:pPr>
            <a:r>
              <a:t>Future extensions of this work include:</a:t>
            </a:r>
          </a:p>
          <a:p>
            <a:pPr lvl="1" marL="1047750" indent="-488950" defTabSz="402336">
              <a:spcBef>
                <a:spcPts val="1000"/>
              </a:spcBef>
              <a:buSzPct val="50000"/>
              <a:buBlip>
                <a:blip r:embed="rId2"/>
              </a:buBlip>
              <a:defRPr sz="3696">
                <a:latin typeface="Times Roman"/>
                <a:ea typeface="Times Roman"/>
                <a:cs typeface="Times Roman"/>
                <a:sym typeface="Times Roman"/>
              </a:defRPr>
            </a:pPr>
            <a:r>
              <a:t>Evaluating the framework on additional large-scale datasets to study cross-dataset generalization.</a:t>
            </a:r>
          </a:p>
          <a:p>
            <a:pPr lvl="1" marL="1047750" indent="-488950" defTabSz="402336">
              <a:spcBef>
                <a:spcPts val="1000"/>
              </a:spcBef>
              <a:buSzPct val="50000"/>
              <a:buBlip>
                <a:blip r:embed="rId2"/>
              </a:buBlip>
              <a:defRPr sz="3696">
                <a:latin typeface="Times Roman"/>
                <a:ea typeface="Times Roman"/>
                <a:cs typeface="Times Roman"/>
                <a:sym typeface="Times Roman"/>
              </a:defRPr>
            </a:pPr>
            <a:r>
              <a:t>Enhancing temporal modeling for improved robustness under extreme compression or noise.</a:t>
            </a:r>
          </a:p>
          <a:p>
            <a:pPr lvl="1" marL="1047750" indent="-488950" defTabSz="402336">
              <a:spcBef>
                <a:spcPts val="1000"/>
              </a:spcBef>
              <a:buSzPct val="50000"/>
              <a:buBlip>
                <a:blip r:embed="rId2"/>
              </a:buBlip>
              <a:defRPr sz="3696">
                <a:latin typeface="Times Roman"/>
                <a:ea typeface="Times Roman"/>
                <a:cs typeface="Times Roman"/>
                <a:sym typeface="Times Roman"/>
              </a:defRPr>
            </a:pPr>
            <a:r>
              <a:t>Improving probability calibration to increase ROC-AUC performance.</a:t>
            </a:r>
          </a:p>
          <a:p>
            <a:pPr lvl="1" marL="1047750" indent="-488950" defTabSz="402336">
              <a:spcBef>
                <a:spcPts val="1000"/>
              </a:spcBef>
              <a:buSzPct val="50000"/>
              <a:buBlip>
                <a:blip r:embed="rId2"/>
              </a:buBlip>
              <a:defRPr sz="3696">
                <a:latin typeface="Times Roman"/>
                <a:ea typeface="Times Roman"/>
                <a:cs typeface="Times Roman"/>
                <a:sym typeface="Times Roman"/>
              </a:defRPr>
            </a:pPr>
            <a:r>
              <a:t>Exploring lightweight model variants for real-time deployment.</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Thank You"/>
          <p:cNvSpPr txBox="1"/>
          <p:nvPr>
            <p:ph type="title"/>
          </p:nvPr>
        </p:nvSpPr>
        <p:spPr>
          <a:prstGeom prst="rect">
            <a:avLst/>
          </a:prstGeom>
        </p:spPr>
        <p:txBody>
          <a:bodyPr/>
          <a:lstStyle>
            <a:lvl1pPr>
              <a:defRPr sz="11200"/>
            </a:lvl1pPr>
          </a:lstStyle>
          <a:p>
            <a:pPr/>
            <a:r>
              <a:t>Thank You</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Times New Roman"/>
        <a:ea typeface="Times New Roman"/>
        <a:cs typeface="Times New Roman"/>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Times New Roman"/>
        <a:ea typeface="Times New Roman"/>
        <a:cs typeface="Times New Roman"/>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