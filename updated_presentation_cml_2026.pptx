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1pPr>
    <a:lvl2pPr marL="0" marR="0" indent="4572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2pPr>
    <a:lvl3pPr marL="0" marR="0" indent="9144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3pPr>
    <a:lvl4pPr marL="0" marR="0" indent="13716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4pPr>
    <a:lvl5pPr marL="0" marR="0" indent="18288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5pPr>
    <a:lvl6pPr marL="0" marR="0" indent="22860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6pPr>
    <a:lvl7pPr marL="0" marR="0" indent="27432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7pPr>
    <a:lvl8pPr marL="0" marR="0" indent="32004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8pPr>
    <a:lvl9pPr marL="0" marR="0" indent="36576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b="def" i="def"/>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b="def" i="def"/>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b="def" i="def"/>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4" name="Shape 134"/>
          <p:cNvSpPr/>
          <p:nvPr>
            <p:ph type="sldImg"/>
          </p:nvPr>
        </p:nvSpPr>
        <p:spPr>
          <a:xfrm>
            <a:off x="1143000" y="685800"/>
            <a:ext cx="4572000" cy="3429000"/>
          </a:xfrm>
          <a:prstGeom prst="rect">
            <a:avLst/>
          </a:prstGeom>
        </p:spPr>
        <p:txBody>
          <a:bodyPr/>
          <a:lstStyle/>
          <a:p>
            <a:pPr/>
          </a:p>
        </p:txBody>
      </p:sp>
      <p:sp>
        <p:nvSpPr>
          <p:cNvPr id="135" name="Shape 13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1778000" y="2298700"/>
            <a:ext cx="20828000" cy="4648200"/>
          </a:xfrm>
          <a:prstGeom prst="rect">
            <a:avLst/>
          </a:prstGeom>
        </p:spPr>
        <p:txBody>
          <a:bodyPr anchor="b"/>
          <a:lstStyle/>
          <a:p>
            <a:pPr/>
            <a:r>
              <a:t>Title Text</a:t>
            </a:r>
          </a:p>
        </p:txBody>
      </p:sp>
      <p:sp>
        <p:nvSpPr>
          <p:cNvPr id="12" name="Body Level One…"/>
          <p:cNvSpPr txBox="1"/>
          <p:nvPr>
            <p:ph type="body" sz="quarter" idx="1"/>
          </p:nvPr>
        </p:nvSpPr>
        <p:spPr>
          <a:xfrm>
            <a:off x="1778000" y="7073900"/>
            <a:ext cx="20828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View of beach and sea from a grassy sand dune"/>
          <p:cNvSpPr/>
          <p:nvPr>
            <p:ph type="pic" idx="21"/>
          </p:nvPr>
        </p:nvSpPr>
        <p:spPr>
          <a:xfrm>
            <a:off x="3125968" y="-393700"/>
            <a:ext cx="18135601" cy="12090400"/>
          </a:xfrm>
          <a:prstGeom prst="rect">
            <a:avLst/>
          </a:prstGeom>
        </p:spPr>
        <p:txBody>
          <a:bodyPr lIns="91439" tIns="45719" rIns="91439" bIns="45719" anchor="t">
            <a:noAutofit/>
          </a:bodyPr>
          <a:lstStyle/>
          <a:p>
            <a:pPr/>
          </a:p>
        </p:txBody>
      </p:sp>
      <p:sp>
        <p:nvSpPr>
          <p:cNvPr id="21" name="Title Text"/>
          <p:cNvSpPr txBox="1"/>
          <p:nvPr>
            <p:ph type="title"/>
          </p:nvPr>
        </p:nvSpPr>
        <p:spPr>
          <a:xfrm>
            <a:off x="635000" y="9512300"/>
            <a:ext cx="23114000" cy="2006600"/>
          </a:xfrm>
          <a:prstGeom prst="rect">
            <a:avLst/>
          </a:prstGeom>
        </p:spPr>
        <p:txBody>
          <a:bodyPr anchor="b"/>
          <a:lstStyle/>
          <a:p>
            <a:pPr/>
            <a:r>
              <a:t>Title Text</a:t>
            </a:r>
          </a:p>
        </p:txBody>
      </p:sp>
      <p:sp>
        <p:nvSpPr>
          <p:cNvPr id="22" name="Body Level One…"/>
          <p:cNvSpPr txBox="1"/>
          <p:nvPr>
            <p:ph type="body" sz="quarter" idx="1"/>
          </p:nvPr>
        </p:nvSpPr>
        <p:spPr>
          <a:xfrm>
            <a:off x="635000" y="11442700"/>
            <a:ext cx="23114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re">
    <p:spTree>
      <p:nvGrpSpPr>
        <p:cNvPr id="1" name=""/>
        <p:cNvGrpSpPr/>
        <p:nvPr/>
      </p:nvGrpSpPr>
      <p:grpSpPr>
        <a:xfrm>
          <a:off x="0" y="0"/>
          <a:ext cx="0" cy="0"/>
          <a:chOff x="0" y="0"/>
          <a:chExt cx="0" cy="0"/>
        </a:xfrm>
      </p:grpSpPr>
      <p:sp>
        <p:nvSpPr>
          <p:cNvPr id="30" name="Title Text"/>
          <p:cNvSpPr txBox="1"/>
          <p:nvPr>
            <p:ph type="title"/>
          </p:nvPr>
        </p:nvSpPr>
        <p:spPr>
          <a:xfrm>
            <a:off x="1778000" y="4533900"/>
            <a:ext cx="20828000" cy="4648200"/>
          </a:xfrm>
          <a:prstGeom prst="rect">
            <a:avLst/>
          </a:prstGeom>
        </p:spPr>
        <p:txBody>
          <a:bodyP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Heron flying low over a beach with a short fence in the foreground"/>
          <p:cNvSpPr/>
          <p:nvPr>
            <p:ph type="pic" sz="half" idx="21"/>
          </p:nvPr>
        </p:nvSpPr>
        <p:spPr>
          <a:xfrm>
            <a:off x="12827000" y="952500"/>
            <a:ext cx="11468100" cy="11468100"/>
          </a:xfrm>
          <a:prstGeom prst="rect">
            <a:avLst/>
          </a:prstGeom>
        </p:spPr>
        <p:txBody>
          <a:bodyPr lIns="91439" tIns="45719" rIns="91439" bIns="45719" anchor="t">
            <a:noAutofit/>
          </a:bodyPr>
          <a:lstStyle/>
          <a:p>
            <a:pPr/>
          </a:p>
        </p:txBody>
      </p:sp>
      <p:sp>
        <p:nvSpPr>
          <p:cNvPr id="39" name="Title Text"/>
          <p:cNvSpPr txBox="1"/>
          <p:nvPr>
            <p:ph type="title"/>
          </p:nvPr>
        </p:nvSpPr>
        <p:spPr>
          <a:xfrm>
            <a:off x="1651000" y="952500"/>
            <a:ext cx="10223500" cy="5549900"/>
          </a:xfrm>
          <a:prstGeom prst="rect">
            <a:avLst/>
          </a:prstGeom>
        </p:spPr>
        <p:txBody>
          <a:bodyPr anchor="b"/>
          <a:lstStyle>
            <a:lvl1pPr defTabSz="825500">
              <a:lnSpc>
                <a:spcPct val="100000"/>
              </a:lnSpc>
              <a:defRPr b="0" sz="8400">
                <a:latin typeface="+mn-lt"/>
                <a:ea typeface="+mn-ea"/>
                <a:cs typeface="+mn-cs"/>
                <a:sym typeface="Helvetica Neue Medium"/>
              </a:defRPr>
            </a:lvl1pPr>
          </a:lstStyle>
          <a:p>
            <a:pPr/>
            <a:r>
              <a:t>Title Text</a:t>
            </a:r>
          </a:p>
        </p:txBody>
      </p:sp>
      <p:sp>
        <p:nvSpPr>
          <p:cNvPr id="40" name="Body Level One…"/>
          <p:cNvSpPr txBox="1"/>
          <p:nvPr>
            <p:ph type="body" sz="quarter" idx="1"/>
          </p:nvPr>
        </p:nvSpPr>
        <p:spPr>
          <a:xfrm>
            <a:off x="1651000" y="6527800"/>
            <a:ext cx="10223500" cy="57277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prstGeom prst="rect">
            <a:avLst/>
          </a:prstGeom>
        </p:spPr>
        <p:txBody>
          <a:bodyP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prstGeom prst="rect">
            <a:avLst/>
          </a:prstGeom>
        </p:spPr>
        <p:txBody>
          <a:bodyPr/>
          <a:lstStyle/>
          <a:p>
            <a:pPr/>
            <a:r>
              <a:t>Title Text</a:t>
            </a:r>
          </a:p>
        </p:txBody>
      </p:sp>
      <p:sp>
        <p:nvSpPr>
          <p:cNvPr id="57" name="Body Level One…"/>
          <p:cNvSpPr txBox="1"/>
          <p:nvPr>
            <p:ph type="body" idx="1"/>
          </p:nvPr>
        </p:nvSpPr>
        <p:spPr>
          <a:prstGeom prst="rect">
            <a:avLst/>
          </a:prstGeom>
        </p:spPr>
        <p:txBody>
          <a:bodyPr/>
          <a:lstStyle>
            <a:lvl1pPr marL="638628" indent="-638628">
              <a:defRPr sz="4800"/>
            </a:lvl1pPr>
            <a:lvl2pPr marL="1264652" indent="-705852">
              <a:defRPr sz="4800"/>
            </a:lvl2pPr>
            <a:lvl3pPr marL="1823452" indent="-705852">
              <a:defRPr sz="4800"/>
            </a:lvl3pPr>
            <a:lvl4pPr marL="2382252" indent="-705852">
              <a:defRPr sz="4800"/>
            </a:lvl4pPr>
            <a:lvl5pPr marL="2941052" indent="-705852">
              <a:defRPr sz="4800"/>
            </a:lvl5p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Sandy path between two hills leading to the ocean"/>
          <p:cNvSpPr/>
          <p:nvPr>
            <p:ph type="pic" sz="half" idx="21"/>
          </p:nvPr>
        </p:nvSpPr>
        <p:spPr>
          <a:xfrm>
            <a:off x="10960100" y="3149600"/>
            <a:ext cx="13944600" cy="9296400"/>
          </a:xfrm>
          <a:prstGeom prst="rect">
            <a:avLst/>
          </a:prstGeom>
        </p:spPr>
        <p:txBody>
          <a:bodyPr lIns="91439" tIns="45719" rIns="91439" bIns="45719" anchor="t">
            <a:noAutofit/>
          </a:bodyPr>
          <a:lstStyle/>
          <a:p>
            <a:pPr/>
          </a:p>
        </p:txBody>
      </p:sp>
      <p:sp>
        <p:nvSpPr>
          <p:cNvPr id="66" name="Title Text"/>
          <p:cNvSpPr txBox="1"/>
          <p:nvPr>
            <p:ph type="title"/>
          </p:nvPr>
        </p:nvSpPr>
        <p:spPr>
          <a:prstGeom prst="rect">
            <a:avLst/>
          </a:prstGeom>
        </p:spPr>
        <p:txBody>
          <a:bodyPr/>
          <a:lstStyle/>
          <a:p>
            <a:pPr/>
            <a:r>
              <a:t>Title Text</a:t>
            </a:r>
          </a:p>
        </p:txBody>
      </p:sp>
      <p:sp>
        <p:nvSpPr>
          <p:cNvPr id="67" name="Body Level One…"/>
          <p:cNvSpPr txBox="1"/>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5" name="Title Text"/>
          <p:cNvSpPr txBox="1"/>
          <p:nvPr>
            <p:ph type="title"/>
          </p:nvPr>
        </p:nvSpPr>
        <p:spPr>
          <a:prstGeom prst="rect">
            <a:avLst/>
          </a:prstGeom>
        </p:spPr>
        <p:txBody>
          <a:bodyPr/>
          <a:lstStyle/>
          <a:p>
            <a:pPr/>
            <a:r>
              <a:t>Title Text</a:t>
            </a:r>
          </a:p>
        </p:txBody>
      </p:sp>
      <p:sp>
        <p:nvSpPr>
          <p:cNvPr id="76" name="Body Level One…"/>
          <p:cNvSpPr txBox="1"/>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pPr/>
            <a:r>
              <a:t>Body Level One</a:t>
            </a:r>
          </a:p>
          <a:p>
            <a:pPr lvl="1"/>
            <a:r>
              <a:t>Body Level Two</a:t>
            </a:r>
          </a:p>
          <a:p>
            <a:pPr lvl="2"/>
            <a:r>
              <a:t>Body Level Three</a:t>
            </a:r>
          </a:p>
          <a:p>
            <a:pPr lvl="3"/>
            <a:r>
              <a:t>Body Level Four</a:t>
            </a:r>
          </a:p>
          <a:p>
            <a:pPr lvl="4"/>
            <a:r>
              <a:t>Body Level Five</a:t>
            </a:r>
          </a:p>
        </p:txBody>
      </p:sp>
      <p:sp>
        <p:nvSpPr>
          <p:cNvPr id="7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4" name="Title Text"/>
          <p:cNvSpPr txBox="1"/>
          <p:nvPr>
            <p:ph type="title"/>
          </p:nvPr>
        </p:nvSpPr>
        <p:spPr>
          <a:prstGeom prst="rect">
            <a:avLst/>
          </a:prstGeom>
        </p:spPr>
        <p:txBody>
          <a:bodyPr/>
          <a:lstStyle/>
          <a:p>
            <a:pPr/>
            <a:r>
              <a:t>Title Text</a:t>
            </a:r>
          </a:p>
        </p:txBody>
      </p:sp>
      <p:sp>
        <p:nvSpPr>
          <p:cNvPr id="85" name="Body Level One…"/>
          <p:cNvSpPr txBox="1"/>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pPr/>
            <a:r>
              <a:t>Body Level One</a:t>
            </a:r>
          </a:p>
          <a:p>
            <a:pPr lvl="1"/>
            <a:r>
              <a:t>Body Level Two</a:t>
            </a:r>
          </a:p>
          <a:p>
            <a:pPr lvl="2"/>
            <a:r>
              <a:t>Body Level Three</a:t>
            </a:r>
          </a:p>
          <a:p>
            <a:pPr lvl="3"/>
            <a:r>
              <a:t>Body Level Four</a:t>
            </a:r>
          </a:p>
          <a:p>
            <a:pPr lvl="4"/>
            <a:r>
              <a:t>Body Level Five</a:t>
            </a: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93" name="Body Level One…"/>
          <p:cNvSpPr txBox="1"/>
          <p:nvPr>
            <p:ph type="body" idx="1"/>
          </p:nvPr>
        </p:nvSpPr>
        <p:spPr>
          <a:xfrm>
            <a:off x="1689100" y="1778000"/>
            <a:ext cx="21005800" cy="10160000"/>
          </a:xfrm>
          <a:prstGeom prst="rect">
            <a:avLst/>
          </a:prstGeom>
        </p:spPr>
        <p:txBody>
          <a:bodyPr/>
          <a:lstStyle>
            <a:lvl1pPr marL="638628" indent="-638628">
              <a:defRPr sz="4800"/>
            </a:lvl1pPr>
            <a:lvl2pPr marL="1264652" indent="-705852">
              <a:defRPr sz="4800"/>
            </a:lvl2pPr>
            <a:lvl3pPr marL="1823452" indent="-705852">
              <a:defRPr sz="4800"/>
            </a:lvl3pPr>
            <a:lvl4pPr marL="2382252" indent="-705852">
              <a:defRPr sz="4800"/>
            </a:lvl4pPr>
            <a:lvl5pPr marL="2941052" indent="-705852">
              <a:defRPr sz="4800"/>
            </a:lvl5p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01" name="Sandy path between two hills leading to the ocean"/>
          <p:cNvSpPr/>
          <p:nvPr>
            <p:ph type="pic" sz="quarter" idx="21"/>
          </p:nvPr>
        </p:nvSpPr>
        <p:spPr>
          <a:xfrm>
            <a:off x="15300325" y="7048500"/>
            <a:ext cx="8324850" cy="5549900"/>
          </a:xfrm>
          <a:prstGeom prst="rect">
            <a:avLst/>
          </a:prstGeom>
        </p:spPr>
        <p:txBody>
          <a:bodyPr lIns="91439" tIns="45719" rIns="91439" bIns="45719" anchor="t">
            <a:noAutofit/>
          </a:bodyPr>
          <a:lstStyle/>
          <a:p>
            <a:pPr/>
          </a:p>
        </p:txBody>
      </p:sp>
      <p:sp>
        <p:nvSpPr>
          <p:cNvPr id="102" name="Heron flying low over a beach with a short fence in the foreground"/>
          <p:cNvSpPr/>
          <p:nvPr>
            <p:ph type="pic" sz="quarter" idx="22"/>
          </p:nvPr>
        </p:nvSpPr>
        <p:spPr>
          <a:xfrm>
            <a:off x="15760700" y="863600"/>
            <a:ext cx="7404100" cy="7404100"/>
          </a:xfrm>
          <a:prstGeom prst="rect">
            <a:avLst/>
          </a:prstGeom>
        </p:spPr>
        <p:txBody>
          <a:bodyPr lIns="91439" tIns="45719" rIns="91439" bIns="45719" anchor="t">
            <a:noAutofit/>
          </a:bodyPr>
          <a:lstStyle/>
          <a:p>
            <a:pPr/>
          </a:p>
        </p:txBody>
      </p:sp>
      <p:sp>
        <p:nvSpPr>
          <p:cNvPr id="103" name="View of beach and sea from a grassy sand dune"/>
          <p:cNvSpPr/>
          <p:nvPr>
            <p:ph type="pic" idx="23"/>
          </p:nvPr>
        </p:nvSpPr>
        <p:spPr>
          <a:xfrm>
            <a:off x="-990600" y="1130300"/>
            <a:ext cx="17202150" cy="11468100"/>
          </a:xfrm>
          <a:prstGeom prst="rect">
            <a:avLst/>
          </a:prstGeom>
        </p:spPr>
        <p:txBody>
          <a:bodyPr lIns="91439" tIns="45719" rIns="91439" bIns="45719" anchor="t">
            <a:noAutofit/>
          </a:bodyPr>
          <a:lstStyle/>
          <a:p>
            <a:pPr/>
          </a:p>
        </p:txBody>
      </p:sp>
      <p:sp>
        <p:nvSpPr>
          <p:cNvPr id="1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1" name="–Johnny Appleseed"/>
          <p:cNvSpPr txBox="1"/>
          <p:nvPr>
            <p:ph type="body" sz="quarter" idx="21"/>
          </p:nvPr>
        </p:nvSpPr>
        <p:spPr>
          <a:xfrm>
            <a:off x="2387600" y="8953500"/>
            <a:ext cx="19621500" cy="585521"/>
          </a:xfrm>
          <a:prstGeom prst="rect">
            <a:avLst/>
          </a:prstGeom>
        </p:spPr>
        <p:txBody>
          <a:bodyPr anchor="t">
            <a:spAutoFit/>
          </a:bodyPr>
          <a:lstStyle>
            <a:lvl1pPr marL="0" indent="0" algn="ctr">
              <a:spcBef>
                <a:spcPts val="0"/>
              </a:spcBef>
              <a:buSzTx/>
              <a:buNone/>
              <a:defRPr i="1" sz="3200"/>
            </a:lvl1pPr>
          </a:lstStyle>
          <a:p>
            <a:pPr/>
            <a:r>
              <a:t>–Johnny Appleseed</a:t>
            </a:r>
          </a:p>
        </p:txBody>
      </p:sp>
      <p:sp>
        <p:nvSpPr>
          <p:cNvPr id="112" name="“Type a quote here.”"/>
          <p:cNvSpPr txBox="1"/>
          <p:nvPr>
            <p:ph type="body" sz="quarter" idx="22"/>
          </p:nvPr>
        </p:nvSpPr>
        <p:spPr>
          <a:xfrm>
            <a:off x="2387600" y="6076950"/>
            <a:ext cx="19621500" cy="825500"/>
          </a:xfrm>
          <a:prstGeom prst="rect">
            <a:avLst/>
          </a:prstGeom>
        </p:spPr>
        <p:txBody>
          <a:bodyPr>
            <a:spAutoFit/>
          </a:bodyPr>
          <a:lstStyle>
            <a:lvl1pPr marL="0" indent="0" algn="ctr">
              <a:spcBef>
                <a:spcPts val="0"/>
              </a:spcBef>
              <a:buSzTx/>
              <a:buNone/>
              <a:defRPr sz="4800">
                <a:latin typeface="+mn-lt"/>
                <a:ea typeface="+mn-ea"/>
                <a:cs typeface="+mn-cs"/>
                <a:sym typeface="Helvetica Neue Medium"/>
              </a:defRPr>
            </a:lvl1pPr>
          </a:lstStyle>
          <a:p>
            <a:pPr/>
            <a:r>
              <a:t>“Type a quote here.” </a:t>
            </a:r>
          </a:p>
        </p:txBody>
      </p:sp>
      <p:sp>
        <p:nvSpPr>
          <p:cNvPr id="1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20" name="View of beach and sea from a grassy sand dune"/>
          <p:cNvSpPr/>
          <p:nvPr>
            <p:ph type="pic" idx="21"/>
          </p:nvPr>
        </p:nvSpPr>
        <p:spPr>
          <a:xfrm>
            <a:off x="-50800" y="-1270000"/>
            <a:ext cx="24485600" cy="16323734"/>
          </a:xfrm>
          <a:prstGeom prst="rect">
            <a:avLst/>
          </a:prstGeom>
        </p:spPr>
        <p:txBody>
          <a:bodyPr lIns="91439" tIns="45719" rIns="91439" bIns="45719" anchor="t">
            <a:noAutofit/>
          </a:bodyPr>
          <a:lstStyle/>
          <a:p>
            <a:pPr/>
          </a:p>
        </p:txBody>
      </p:sp>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689100" y="355600"/>
            <a:ext cx="21005800" cy="2286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3" name="Body Level One…"/>
          <p:cNvSpPr txBox="1"/>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lgn="ctr">
              <a:spcBef>
                <a:spcPts val="0"/>
              </a:spcBef>
              <a:defRPr sz="24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1pPr>
      <a:lvl2pPr marL="0" marR="0" indent="45720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2pPr>
      <a:lvl3pPr marL="0" marR="0" indent="91440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3pPr>
      <a:lvl4pPr marL="0" marR="0" indent="137160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4pPr>
      <a:lvl5pPr marL="0" marR="0" indent="182880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5pPr>
      <a:lvl6pPr marL="0" marR="0" indent="228600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6pPr>
      <a:lvl7pPr marL="0" marR="0" indent="274320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7pPr>
      <a:lvl8pPr marL="0" marR="0" indent="320040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8pPr>
      <a:lvl9pPr marL="0" marR="0" indent="365760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9pPr>
    </p:titleStyle>
    <p:bodyStyle>
      <a:lvl1pPr marL="635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1pPr>
      <a:lvl2pPr marL="11938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2pPr>
      <a:lvl3pPr marL="17526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3pPr>
      <a:lvl4pPr marL="23114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4pPr>
      <a:lvl5pPr marL="28702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5pPr>
      <a:lvl6pPr marL="3429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6pPr>
      <a:lvl7pPr marL="39878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7pPr>
      <a:lvl8pPr marL="45466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8pPr>
      <a:lvl9pPr marL="51054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9pPr>
    </p:bodyStyle>
    <p:otherStyle>
      <a:lvl1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1pPr>
      <a:lvl2pPr marL="0" marR="0" indent="4572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2pPr>
      <a:lvl3pPr marL="0" marR="0" indent="9144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3pPr>
      <a:lvl4pPr marL="0" marR="0" indent="13716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4pPr>
      <a:lvl5pPr marL="0" marR="0" indent="18288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5pPr>
      <a:lvl6pPr marL="0" marR="0" indent="22860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6pPr>
      <a:lvl7pPr marL="0" marR="0" indent="27432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7pPr>
      <a:lvl8pPr marL="0" marR="0" indent="32004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8pPr>
      <a:lvl9pPr marL="0" marR="0" indent="36576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image" Target="../media/image8.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Phoneme–Viseme Based Deepfake Detection Using Fine-Grained Cross-Modal Analysis"/>
          <p:cNvSpPr txBox="1"/>
          <p:nvPr>
            <p:ph type="ctrTitle"/>
          </p:nvPr>
        </p:nvSpPr>
        <p:spPr>
          <a:prstGeom prst="rect">
            <a:avLst/>
          </a:prstGeom>
        </p:spPr>
        <p:txBody>
          <a:bodyPr/>
          <a:lstStyle>
            <a:lvl1pPr>
              <a:lnSpc>
                <a:spcPct val="100000"/>
              </a:lnSpc>
              <a:defRPr sz="8600"/>
            </a:lvl1pPr>
          </a:lstStyle>
          <a:p>
            <a:pPr/>
            <a:r>
              <a:t>Phoneme–Viseme Based Deepfake Detection Using Fine-Grained Cross-Modal Analysis</a:t>
            </a:r>
          </a:p>
        </p:txBody>
      </p:sp>
      <p:sp>
        <p:nvSpPr>
          <p:cNvPr id="138" name="Paper ID: 771…"/>
          <p:cNvSpPr txBox="1"/>
          <p:nvPr>
            <p:ph type="subTitle" sz="half" idx="1"/>
          </p:nvPr>
        </p:nvSpPr>
        <p:spPr>
          <a:xfrm>
            <a:off x="1778000" y="7073900"/>
            <a:ext cx="21107400" cy="5435600"/>
          </a:xfrm>
          <a:prstGeom prst="rect">
            <a:avLst/>
          </a:prstGeom>
        </p:spPr>
        <p:txBody>
          <a:bodyPr/>
          <a:lstStyle/>
          <a:p>
            <a:pPr algn="l" defTabSz="914400">
              <a:spcBef>
                <a:spcPts val="1000"/>
              </a:spcBef>
              <a:defRPr sz="4200">
                <a:latin typeface="+mj-lt"/>
                <a:ea typeface="+mj-ea"/>
                <a:cs typeface="+mj-cs"/>
                <a:sym typeface="Times New Roman"/>
              </a:defRPr>
            </a:pPr>
            <a:endParaRPr b="1"/>
          </a:p>
          <a:p>
            <a:pPr defTabSz="914400">
              <a:spcBef>
                <a:spcPts val="1000"/>
              </a:spcBef>
              <a:defRPr b="1" sz="4200">
                <a:latin typeface="+mj-lt"/>
                <a:ea typeface="+mj-ea"/>
                <a:cs typeface="+mj-cs"/>
                <a:sym typeface="Times New Roman"/>
              </a:defRPr>
            </a:pPr>
            <a:r>
              <a:t>Paper ID: 771</a:t>
            </a:r>
          </a:p>
          <a:p>
            <a:pPr defTabSz="914400">
              <a:spcBef>
                <a:spcPts val="1000"/>
              </a:spcBef>
              <a:defRPr b="1" sz="4200">
                <a:latin typeface="+mj-lt"/>
                <a:ea typeface="+mj-ea"/>
                <a:cs typeface="+mj-cs"/>
                <a:sym typeface="Times New Roman"/>
              </a:defRPr>
            </a:pPr>
            <a:r>
              <a:t>Presenter: Kateghar Tilak</a:t>
            </a:r>
          </a:p>
          <a:p>
            <a:pPr defTabSz="914400">
              <a:spcBef>
                <a:spcPts val="1000"/>
              </a:spcBef>
              <a:defRPr b="1" sz="4200">
                <a:latin typeface="+mj-lt"/>
                <a:ea typeface="+mj-ea"/>
                <a:cs typeface="+mj-cs"/>
                <a:sym typeface="Times New Roman"/>
              </a:defRPr>
            </a:pPr>
            <a:r>
              <a:t>Srikanth Cherukuvada, Usha Aluru, Kateghar Tilak, Kasanagottu Sai Maniteja, Mallikarjun Patil, Paidi Geethika</a:t>
            </a:r>
          </a:p>
          <a:p>
            <a:pPr defTabSz="914400">
              <a:spcBef>
                <a:spcPts val="1000"/>
              </a:spcBef>
              <a:defRPr b="1" sz="4200">
                <a:latin typeface="+mj-lt"/>
                <a:ea typeface="+mj-ea"/>
                <a:cs typeface="+mj-cs"/>
                <a:sym typeface="Times New Roman"/>
              </a:defRPr>
            </a:pPr>
            <a:r>
              <a:t>Department of CSE (AI &amp; ML)</a:t>
            </a:r>
          </a:p>
          <a:p>
            <a:pPr defTabSz="914400">
              <a:spcBef>
                <a:spcPts val="1000"/>
              </a:spcBef>
              <a:defRPr b="1" sz="4200">
                <a:latin typeface="+mj-lt"/>
                <a:ea typeface="+mj-ea"/>
                <a:cs typeface="+mj-cs"/>
                <a:sym typeface="Times New Roman"/>
              </a:defRPr>
            </a:pPr>
            <a:r>
              <a:t>Padmasri Dr. B V Raju Institute of Technology, Narsapur, Medak, Telangana, India, 502313</a:t>
            </a:r>
          </a:p>
        </p:txBody>
      </p:sp>
      <p:sp>
        <p:nvSpPr>
          <p:cNvPr id="139" name="Google Shape;84;p13"/>
          <p:cNvSpPr txBox="1"/>
          <p:nvPr/>
        </p:nvSpPr>
        <p:spPr>
          <a:xfrm>
            <a:off x="1778000" y="1778000"/>
            <a:ext cx="20828000" cy="190500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b">
            <a:normAutofit fontScale="100000" lnSpcReduction="0"/>
          </a:bodyPr>
          <a:lstStyle/>
          <a:p>
            <a:pPr algn="ctr" defTabSz="466344">
              <a:spcBef>
                <a:spcPts val="0"/>
              </a:spcBef>
              <a:defRPr b="1" sz="4182">
                <a:latin typeface="+mj-lt"/>
                <a:ea typeface="+mj-ea"/>
                <a:cs typeface="+mj-cs"/>
                <a:sym typeface="Times New Roman"/>
              </a:defRPr>
            </a:pPr>
            <a:r>
              <a:t>3rd International Conference on Computing and Machine Learning (CML 2026) </a:t>
            </a:r>
          </a:p>
          <a:p>
            <a:pPr algn="ctr" defTabSz="466344">
              <a:spcBef>
                <a:spcPts val="0"/>
              </a:spcBef>
              <a:defRPr b="1" sz="4182">
                <a:latin typeface="+mj-lt"/>
                <a:ea typeface="+mj-ea"/>
                <a:cs typeface="+mj-cs"/>
                <a:sym typeface="Times New Roman"/>
              </a:defRPr>
            </a:pPr>
            <a:r>
              <a:t>March 8, 2026 | Online Presentation </a:t>
            </a:r>
          </a:p>
          <a:p>
            <a:pPr algn="ctr" defTabSz="466344">
              <a:spcBef>
                <a:spcPts val="0"/>
              </a:spcBef>
              <a:defRPr b="1" sz="4182">
                <a:latin typeface="+mj-lt"/>
                <a:ea typeface="+mj-ea"/>
                <a:cs typeface="+mj-cs"/>
                <a:sym typeface="Times New Roman"/>
              </a:defRPr>
            </a:pPr>
            <a:r>
              <a:t>Sikkim Manipal University, Sikkim, India</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Problem Statement"/>
          <p:cNvSpPr txBox="1"/>
          <p:nvPr>
            <p:ph type="title"/>
          </p:nvPr>
        </p:nvSpPr>
        <p:spPr>
          <a:prstGeom prst="rect">
            <a:avLst/>
          </a:prstGeom>
        </p:spPr>
        <p:txBody>
          <a:bodyPr/>
          <a:lstStyle/>
          <a:p>
            <a:pPr/>
            <a:r>
              <a:t>Problem Statement</a:t>
            </a:r>
          </a:p>
        </p:txBody>
      </p:sp>
      <p:sp>
        <p:nvSpPr>
          <p:cNvPr id="142" name="The state-of-the-art in deep fake technology has improved to such a level that audio-visual videos are created that are indistinguishable from real ones. These advanced deep fake technologies have the capability to ensure that the audio and video are syn"/>
          <p:cNvSpPr txBox="1"/>
          <p:nvPr>
            <p:ph type="body" idx="1"/>
          </p:nvPr>
        </p:nvSpPr>
        <p:spPr>
          <a:prstGeom prst="rect">
            <a:avLst/>
          </a:prstGeom>
        </p:spPr>
        <p:txBody>
          <a:bodyPr anchor="t"/>
          <a:lstStyle/>
          <a:p>
            <a:pPr marL="577850" indent="-577850" defTabSz="751205">
              <a:spcBef>
                <a:spcPts val="5300"/>
              </a:spcBef>
              <a:defRPr sz="3822">
                <a:latin typeface="+mj-lt"/>
                <a:ea typeface="+mj-ea"/>
                <a:cs typeface="+mj-cs"/>
                <a:sym typeface="Times New Roman"/>
              </a:defRPr>
            </a:pPr>
            <a:r>
              <a:t>The state-of-the-art in deep fake technology has improved to such a level that audio-visual videos are created that are indistinguishable from real ones. These advanced deep fake technologies have the capability to ensure that the audio and video are synchronized over the entire length of the video. This makes the traditional visual artifact-based approaches ineffective in detecting deep fake videos.</a:t>
            </a:r>
          </a:p>
          <a:p>
            <a:pPr marL="577850" indent="-577850" defTabSz="751205">
              <a:spcBef>
                <a:spcPts val="5300"/>
              </a:spcBef>
              <a:defRPr sz="3822">
                <a:latin typeface="+mj-lt"/>
                <a:ea typeface="+mj-ea"/>
                <a:cs typeface="+mj-cs"/>
                <a:sym typeface="Times New Roman"/>
              </a:defRPr>
            </a:pPr>
            <a:r>
              <a:t>The traditional approaches to deep fake video detection were based on single-modal analysis. These approaches were based on detecting facial or audio anomalies in the video. However, these approaches are not effective when the audio and video in the video are jointly synthesized to a high level of quality.</a:t>
            </a:r>
          </a:p>
          <a:p>
            <a:pPr marL="577850" indent="-577850" defTabSz="751205">
              <a:spcBef>
                <a:spcPts val="5300"/>
              </a:spcBef>
              <a:defRPr sz="3822">
                <a:latin typeface="+mj-lt"/>
                <a:ea typeface="+mj-ea"/>
                <a:cs typeface="+mj-cs"/>
                <a:sym typeface="Times New Roman"/>
              </a:defRPr>
            </a:pPr>
            <a:r>
              <a:t>Even in videos that are synchronized to a high level, there are usually small inconsistencies in phonemes and visemes. These inconsistencies are hard to detect for humans but can be captured using fine-grained computational models.</a:t>
            </a:r>
          </a:p>
          <a:p>
            <a:pPr marL="577850" indent="-577850" defTabSz="751205">
              <a:spcBef>
                <a:spcPts val="5300"/>
              </a:spcBef>
              <a:defRPr sz="3822">
                <a:latin typeface="+mj-lt"/>
                <a:ea typeface="+mj-ea"/>
                <a:cs typeface="+mj-cs"/>
                <a:sym typeface="Times New Roman"/>
              </a:defRPr>
            </a:pPr>
            <a:r>
              <a:t>The challenge is to build a system that captures these small phoneme and viseme inconsistencies rather than relying on coarse synchronization or fusion-based approaches.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Proposed Solution"/>
          <p:cNvSpPr txBox="1"/>
          <p:nvPr>
            <p:ph type="title"/>
          </p:nvPr>
        </p:nvSpPr>
        <p:spPr>
          <a:prstGeom prst="rect">
            <a:avLst/>
          </a:prstGeom>
        </p:spPr>
        <p:txBody>
          <a:bodyPr/>
          <a:lstStyle/>
          <a:p>
            <a:pPr/>
            <a:r>
              <a:t>Proposed Solution</a:t>
            </a:r>
          </a:p>
        </p:txBody>
      </p:sp>
      <p:sp>
        <p:nvSpPr>
          <p:cNvPr id="145" name="This work proposes a phoneme–viseme based deepfake detection framework that models the interaction between speech and corresponding lip movements at a fine-grained level.…"/>
          <p:cNvSpPr txBox="1"/>
          <p:nvPr>
            <p:ph type="body" idx="1"/>
          </p:nvPr>
        </p:nvSpPr>
        <p:spPr>
          <a:xfrm>
            <a:off x="1689100" y="3149600"/>
            <a:ext cx="21005800" cy="9296400"/>
          </a:xfrm>
          <a:prstGeom prst="rect">
            <a:avLst/>
          </a:prstGeom>
        </p:spPr>
        <p:txBody>
          <a:bodyPr anchor="t"/>
          <a:lstStyle/>
          <a:p>
            <a:pPr marL="530859" indent="-530859" defTabSz="784225">
              <a:spcBef>
                <a:spcPts val="4200"/>
              </a:spcBef>
              <a:defRPr sz="4370">
                <a:latin typeface="+mj-lt"/>
                <a:ea typeface="+mj-ea"/>
                <a:cs typeface="+mj-cs"/>
                <a:sym typeface="Times New Roman"/>
              </a:defRPr>
            </a:pPr>
            <a:r>
              <a:t>This work proposes a phoneme–viseme based deepfake detection framework that models the interaction between speech and corresponding lip movements at a fine-grained level.</a:t>
            </a:r>
          </a:p>
          <a:p>
            <a:pPr marL="530859" indent="-530859" defTabSz="784225">
              <a:spcBef>
                <a:spcPts val="4200"/>
              </a:spcBef>
              <a:defRPr sz="4370">
                <a:latin typeface="+mj-lt"/>
                <a:ea typeface="+mj-ea"/>
                <a:cs typeface="+mj-cs"/>
                <a:sym typeface="Times New Roman"/>
              </a:defRPr>
            </a:pPr>
            <a:r>
              <a:t>The proposed method extracts phoneme-aware audio representations using a pretrained Wav2Vec 2.0 model and viseme-oriented visual features using a ResNet-18 backbone.</a:t>
            </a:r>
          </a:p>
          <a:p>
            <a:pPr marL="530859" indent="-530859" defTabSz="784225">
              <a:spcBef>
                <a:spcPts val="4200"/>
              </a:spcBef>
              <a:defRPr sz="4370">
                <a:latin typeface="+mj-lt"/>
                <a:ea typeface="+mj-ea"/>
                <a:cs typeface="+mj-cs"/>
                <a:sym typeface="Times New Roman"/>
              </a:defRPr>
            </a:pPr>
            <a:r>
              <a:t>The audio and visual streams are temporally aligned to ensure that each speech segment corresponds to the correct visual frame.</a:t>
            </a:r>
          </a:p>
          <a:p>
            <a:pPr marL="530859" indent="-530859" defTabSz="784225">
              <a:spcBef>
                <a:spcPts val="4200"/>
              </a:spcBef>
              <a:defRPr sz="4370">
                <a:latin typeface="+mj-lt"/>
                <a:ea typeface="+mj-ea"/>
                <a:cs typeface="+mj-cs"/>
                <a:sym typeface="Times New Roman"/>
              </a:defRPr>
            </a:pPr>
            <a:r>
              <a:t>A cross-modal attention mechanism is then applied to learn the relationship between phoneme embeddings and viseme embeddings. This enables the model to identify inconsistencies between spoken words and mouth articulation.</a:t>
            </a:r>
          </a:p>
          <a:p>
            <a:pPr marL="530859" indent="-530859" defTabSz="784225">
              <a:spcBef>
                <a:spcPts val="4200"/>
              </a:spcBef>
              <a:defRPr sz="4370">
                <a:latin typeface="+mj-lt"/>
                <a:ea typeface="+mj-ea"/>
                <a:cs typeface="+mj-cs"/>
                <a:sym typeface="Times New Roman"/>
              </a:defRPr>
            </a:pPr>
            <a:r>
              <a:t>Finally, the aligned cross-modal representation is used for binary classification to determine whether the video is real or fake.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Methodology"/>
          <p:cNvSpPr txBox="1"/>
          <p:nvPr>
            <p:ph type="title"/>
          </p:nvPr>
        </p:nvSpPr>
        <p:spPr>
          <a:prstGeom prst="rect">
            <a:avLst/>
          </a:prstGeom>
        </p:spPr>
        <p:txBody>
          <a:bodyPr/>
          <a:lstStyle/>
          <a:p>
            <a:pPr/>
            <a:r>
              <a:t>Methodology</a:t>
            </a:r>
          </a:p>
        </p:txBody>
      </p:sp>
      <p:pic>
        <p:nvPicPr>
          <p:cNvPr id="148" name="cross_modal_attention.png" descr="cross_modal_attention.png"/>
          <p:cNvPicPr>
            <a:picLocks noChangeAspect="1"/>
          </p:cNvPicPr>
          <p:nvPr/>
        </p:nvPicPr>
        <p:blipFill>
          <a:blip r:embed="rId2">
            <a:extLst/>
          </a:blip>
          <a:srcRect l="0" t="3553" r="0" b="21354"/>
          <a:stretch>
            <a:fillRect/>
          </a:stretch>
        </p:blipFill>
        <p:spPr>
          <a:xfrm>
            <a:off x="15113000" y="3149600"/>
            <a:ext cx="9580966" cy="9857628"/>
          </a:xfrm>
          <a:prstGeom prst="rect">
            <a:avLst/>
          </a:prstGeom>
          <a:ln w="12700">
            <a:miter lim="400000"/>
          </a:ln>
        </p:spPr>
      </p:pic>
      <p:sp>
        <p:nvSpPr>
          <p:cNvPr id="149" name="The proposed architecture consists of the following stages:…"/>
          <p:cNvSpPr txBox="1"/>
          <p:nvPr>
            <p:ph type="body" sz="half" idx="1"/>
          </p:nvPr>
        </p:nvSpPr>
        <p:spPr>
          <a:xfrm>
            <a:off x="1689100" y="3149600"/>
            <a:ext cx="13462000" cy="9296400"/>
          </a:xfrm>
          <a:prstGeom prst="rect">
            <a:avLst/>
          </a:prstGeom>
        </p:spPr>
        <p:txBody>
          <a:bodyPr anchor="t"/>
          <a:lstStyle/>
          <a:p>
            <a:pPr marL="558800" indent="-558800" defTabSz="457200">
              <a:spcBef>
                <a:spcPts val="1200"/>
              </a:spcBef>
              <a:defRPr sz="4200">
                <a:latin typeface="+mj-lt"/>
                <a:ea typeface="+mj-ea"/>
                <a:cs typeface="+mj-cs"/>
                <a:sym typeface="Times New Roman"/>
              </a:defRPr>
            </a:pPr>
            <a:r>
              <a:t>The proposed architecture consists of the following stages:</a:t>
            </a:r>
          </a:p>
          <a:p>
            <a:pPr lvl="1" marL="1190625" indent="-555625" defTabSz="457200">
              <a:spcBef>
                <a:spcPts val="1200"/>
              </a:spcBef>
              <a:buSzPct val="50000"/>
              <a:buBlip>
                <a:blip r:embed="rId3"/>
              </a:buBlip>
              <a:defRPr sz="4200">
                <a:latin typeface="+mj-lt"/>
                <a:ea typeface="+mj-ea"/>
                <a:cs typeface="+mj-cs"/>
                <a:sym typeface="Times New Roman"/>
              </a:defRPr>
            </a:pPr>
            <a:r>
              <a:t>Metadata creation and dataset preparation.</a:t>
            </a:r>
          </a:p>
          <a:p>
            <a:pPr lvl="1" marL="1190625" indent="-555625" defTabSz="457200">
              <a:spcBef>
                <a:spcPts val="1200"/>
              </a:spcBef>
              <a:buSzPct val="50000"/>
              <a:buBlip>
                <a:blip r:embed="rId3"/>
              </a:buBlip>
              <a:defRPr sz="4200">
                <a:latin typeface="+mj-lt"/>
                <a:ea typeface="+mj-ea"/>
                <a:cs typeface="+mj-cs"/>
                <a:sym typeface="Times New Roman"/>
              </a:defRPr>
            </a:pPr>
            <a:r>
              <a:t>Audio feature extraction using Wav2Vec 2.0.</a:t>
            </a:r>
          </a:p>
          <a:p>
            <a:pPr lvl="1" marL="1190625" indent="-555625" defTabSz="457200">
              <a:spcBef>
                <a:spcPts val="1200"/>
              </a:spcBef>
              <a:buSzPct val="50000"/>
              <a:buBlip>
                <a:blip r:embed="rId3"/>
              </a:buBlip>
              <a:defRPr sz="4200">
                <a:latin typeface="+mj-lt"/>
                <a:ea typeface="+mj-ea"/>
                <a:cs typeface="+mj-cs"/>
                <a:sym typeface="Times New Roman"/>
              </a:defRPr>
            </a:pPr>
            <a:r>
              <a:t>Visual feature extraction focusing on the mouth region.</a:t>
            </a:r>
          </a:p>
          <a:p>
            <a:pPr lvl="1" marL="1190625" indent="-555625" defTabSz="457200">
              <a:spcBef>
                <a:spcPts val="1200"/>
              </a:spcBef>
              <a:buSzPct val="50000"/>
              <a:buBlip>
                <a:blip r:embed="rId3"/>
              </a:buBlip>
              <a:defRPr sz="4200">
                <a:latin typeface="+mj-lt"/>
                <a:ea typeface="+mj-ea"/>
                <a:cs typeface="+mj-cs"/>
                <a:sym typeface="Times New Roman"/>
              </a:defRPr>
            </a:pPr>
            <a:r>
              <a:t>Temporal alignment between audio and visual embeddings.</a:t>
            </a:r>
          </a:p>
          <a:p>
            <a:pPr lvl="1" marL="1190625" indent="-555625" defTabSz="457200">
              <a:spcBef>
                <a:spcPts val="1200"/>
              </a:spcBef>
              <a:buSzPct val="50000"/>
              <a:buBlip>
                <a:blip r:embed="rId3"/>
              </a:buBlip>
              <a:defRPr sz="4200">
                <a:latin typeface="+mj-lt"/>
                <a:ea typeface="+mj-ea"/>
                <a:cs typeface="+mj-cs"/>
                <a:sym typeface="Times New Roman"/>
              </a:defRPr>
            </a:pPr>
            <a:r>
              <a:t>Cross-modal attention to capture phoneme–viseme correspondence.</a:t>
            </a:r>
          </a:p>
          <a:p>
            <a:pPr marL="558800" indent="-558800" defTabSz="457200">
              <a:spcBef>
                <a:spcPts val="1200"/>
              </a:spcBef>
              <a:defRPr sz="4200">
                <a:latin typeface="+mj-lt"/>
                <a:ea typeface="+mj-ea"/>
                <a:cs typeface="+mj-cs"/>
                <a:sym typeface="Times New Roman"/>
              </a:defRPr>
            </a:pPr>
            <a:r>
              <a:t>Binary classification using fully connected layers.</a:t>
            </a:r>
          </a:p>
          <a:p>
            <a:pPr marL="558800" indent="-558800" defTabSz="457200">
              <a:spcBef>
                <a:spcPts val="1200"/>
              </a:spcBef>
              <a:defRPr sz="4200">
                <a:latin typeface="+mj-lt"/>
                <a:ea typeface="+mj-ea"/>
                <a:cs typeface="+mj-cs"/>
                <a:sym typeface="Times New Roman"/>
              </a:defRPr>
            </a:pPr>
            <a:r>
              <a:t>The framework focuses on modeling articulation consistency rather than global synchronization as shown in the </a:t>
            </a:r>
            <a:r>
              <a:rPr b="1"/>
              <a:t>Fig. 1.</a:t>
            </a:r>
            <a:r>
              <a:t>.</a:t>
            </a:r>
          </a:p>
        </p:txBody>
      </p:sp>
      <p:sp>
        <p:nvSpPr>
          <p:cNvPr id="150" name="Fig. 1. Phoneme-Viseme Based Deepfake Detection Framework"/>
          <p:cNvSpPr txBox="1"/>
          <p:nvPr/>
        </p:nvSpPr>
        <p:spPr>
          <a:xfrm>
            <a:off x="14173200" y="11755592"/>
            <a:ext cx="10210800" cy="5172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spcBef>
                <a:spcPts val="1200"/>
              </a:spcBef>
              <a:defRPr sz="3000">
                <a:latin typeface="+mj-lt"/>
                <a:ea typeface="+mj-ea"/>
                <a:cs typeface="+mj-cs"/>
                <a:sym typeface="Times New Roman"/>
              </a:defRPr>
            </a:pPr>
            <a:r>
              <a:rPr b="1"/>
              <a:t>Fig. 1.</a:t>
            </a:r>
            <a:r>
              <a:t> Phoneme-Viseme Based Deepfake Detection Framework</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2" name="phoneme_embeddings.png" descr="phoneme_embeddings.png"/>
          <p:cNvPicPr>
            <a:picLocks noChangeAspect="1"/>
          </p:cNvPicPr>
          <p:nvPr>
            <p:ph type="pic" idx="21"/>
          </p:nvPr>
        </p:nvPicPr>
        <p:blipFill>
          <a:blip r:embed="rId2">
            <a:extLst/>
          </a:blip>
          <a:srcRect l="0" t="1784" r="0" b="6086"/>
          <a:stretch>
            <a:fillRect/>
          </a:stretch>
        </p:blipFill>
        <p:spPr>
          <a:xfrm>
            <a:off x="15608300" y="3149600"/>
            <a:ext cx="7302500" cy="9296400"/>
          </a:xfrm>
          <a:prstGeom prst="rect">
            <a:avLst/>
          </a:prstGeom>
        </p:spPr>
      </p:pic>
      <p:sp>
        <p:nvSpPr>
          <p:cNvPr id="153" name="Phoneme-Aware Audio Feature Extraction"/>
          <p:cNvSpPr txBox="1"/>
          <p:nvPr>
            <p:ph type="title"/>
          </p:nvPr>
        </p:nvSpPr>
        <p:spPr>
          <a:prstGeom prst="rect">
            <a:avLst/>
          </a:prstGeom>
        </p:spPr>
        <p:txBody>
          <a:bodyPr/>
          <a:lstStyle>
            <a:lvl1pPr defTabSz="457200">
              <a:lnSpc>
                <a:spcPct val="100000"/>
              </a:lnSpc>
            </a:lvl1pPr>
          </a:lstStyle>
          <a:p>
            <a:pPr/>
            <a:r>
              <a:t>Phoneme-Aware Audio Feature Extraction</a:t>
            </a:r>
          </a:p>
        </p:txBody>
      </p:sp>
      <p:sp>
        <p:nvSpPr>
          <p:cNvPr id="154" name="The speech signal extracted from each video is processed using a Wav2Vec 2.0 model, which is a pre-trained model to produce speech embeddings as shown in the Fig. 2..…"/>
          <p:cNvSpPr txBox="1"/>
          <p:nvPr>
            <p:ph type="body" sz="half" idx="1"/>
          </p:nvPr>
        </p:nvSpPr>
        <p:spPr>
          <a:xfrm>
            <a:off x="1689100" y="3149600"/>
            <a:ext cx="13462000" cy="9296400"/>
          </a:xfrm>
          <a:prstGeom prst="rect">
            <a:avLst/>
          </a:prstGeom>
        </p:spPr>
        <p:txBody>
          <a:bodyPr anchor="t"/>
          <a:lstStyle/>
          <a:p>
            <a:pPr marL="558800" indent="-558800">
              <a:defRPr sz="4200">
                <a:latin typeface="+mj-lt"/>
                <a:ea typeface="+mj-ea"/>
                <a:cs typeface="+mj-cs"/>
                <a:sym typeface="Times New Roman"/>
              </a:defRPr>
            </a:pPr>
            <a:r>
              <a:t>The speech signal extracted from each video is processed using a Wav2Vec 2.0 model, which is a pre-trained model to produce speech embeddings as shown in the </a:t>
            </a:r>
            <a:r>
              <a:rPr b="1"/>
              <a:t>Fig. 2.</a:t>
            </a:r>
            <a:r>
              <a:t>.</a:t>
            </a:r>
          </a:p>
          <a:p>
            <a:pPr marL="558800" indent="-558800">
              <a:defRPr sz="4200">
                <a:latin typeface="+mj-lt"/>
                <a:ea typeface="+mj-ea"/>
                <a:cs typeface="+mj-cs"/>
                <a:sym typeface="Times New Roman"/>
              </a:defRPr>
            </a:pPr>
            <a:r>
              <a:t>These speech embeddings represent the phonetic and linguistic characteristics of the speech signal without any requirement of phoneme alignment.</a:t>
            </a:r>
          </a:p>
          <a:p>
            <a:pPr marL="558800" indent="-558800">
              <a:defRPr sz="4200">
                <a:latin typeface="+mj-lt"/>
                <a:ea typeface="+mj-ea"/>
                <a:cs typeface="+mj-cs"/>
                <a:sym typeface="Times New Roman"/>
              </a:defRPr>
            </a:pPr>
            <a:r>
              <a:t>The audio representation maintains the fine-grained phonetic characteristics of the speech signal, which is necessary for alignment with lip movements.</a:t>
            </a:r>
          </a:p>
        </p:txBody>
      </p:sp>
      <p:sp>
        <p:nvSpPr>
          <p:cNvPr id="155" name="Fig. 2. Audio Embeddings"/>
          <p:cNvSpPr txBox="1"/>
          <p:nvPr/>
        </p:nvSpPr>
        <p:spPr>
          <a:xfrm>
            <a:off x="17145000" y="12593792"/>
            <a:ext cx="4445000" cy="5172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spcBef>
                <a:spcPts val="1200"/>
              </a:spcBef>
              <a:defRPr sz="3000">
                <a:latin typeface="+mj-lt"/>
                <a:ea typeface="+mj-ea"/>
                <a:cs typeface="+mj-cs"/>
                <a:sym typeface="Times New Roman"/>
              </a:defRPr>
            </a:pPr>
            <a:r>
              <a:rPr b="1"/>
              <a:t>Fig. 2.</a:t>
            </a:r>
            <a:r>
              <a:t> Audio Embeddings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Viseme-Oriented Visual Feature Extraction"/>
          <p:cNvSpPr txBox="1"/>
          <p:nvPr>
            <p:ph type="title"/>
          </p:nvPr>
        </p:nvSpPr>
        <p:spPr>
          <a:prstGeom prst="rect">
            <a:avLst/>
          </a:prstGeom>
        </p:spPr>
        <p:txBody>
          <a:bodyPr/>
          <a:lstStyle>
            <a:lvl1pPr defTabSz="457200">
              <a:lnSpc>
                <a:spcPct val="100000"/>
              </a:lnSpc>
            </a:lvl1pPr>
          </a:lstStyle>
          <a:p>
            <a:pPr/>
            <a:r>
              <a:t>Viseme-Oriented Visual Feature Extraction</a:t>
            </a:r>
          </a:p>
        </p:txBody>
      </p:sp>
      <p:sp>
        <p:nvSpPr>
          <p:cNvPr id="158" name="For the visual stream, face detection and alignment are performed to isolate the mouth region from each frame as shown in the Fig. 3..…"/>
          <p:cNvSpPr txBox="1"/>
          <p:nvPr>
            <p:ph type="body" sz="half" idx="1"/>
          </p:nvPr>
        </p:nvSpPr>
        <p:spPr>
          <a:xfrm>
            <a:off x="1689100" y="3149600"/>
            <a:ext cx="13462000" cy="9296400"/>
          </a:xfrm>
          <a:prstGeom prst="rect">
            <a:avLst/>
          </a:prstGeom>
        </p:spPr>
        <p:txBody>
          <a:bodyPr anchor="t"/>
          <a:lstStyle/>
          <a:p>
            <a:pPr marL="558800" indent="-558800">
              <a:defRPr sz="4200">
                <a:latin typeface="+mj-lt"/>
                <a:ea typeface="+mj-ea"/>
                <a:cs typeface="+mj-cs"/>
                <a:sym typeface="Times New Roman"/>
              </a:defRPr>
            </a:pPr>
            <a:r>
              <a:t>For the visual stream, face detection and alignment are performed to isolate the mouth region from each frame as shown in the </a:t>
            </a:r>
            <a:r>
              <a:rPr b="1"/>
              <a:t>Fig. 3.</a:t>
            </a:r>
            <a:r>
              <a:t>.</a:t>
            </a:r>
          </a:p>
          <a:p>
            <a:pPr marL="558800" indent="-558800">
              <a:defRPr sz="4200">
                <a:latin typeface="+mj-lt"/>
                <a:ea typeface="+mj-ea"/>
                <a:cs typeface="+mj-cs"/>
                <a:sym typeface="Times New Roman"/>
              </a:defRPr>
            </a:pPr>
            <a:r>
              <a:t>The cropped mouth images are passed through a ResNet-18 backbone to extract visual features representing lip movements.</a:t>
            </a:r>
          </a:p>
          <a:p>
            <a:pPr marL="558800" indent="-558800">
              <a:defRPr sz="4200">
                <a:latin typeface="+mj-lt"/>
                <a:ea typeface="+mj-ea"/>
                <a:cs typeface="+mj-cs"/>
                <a:sym typeface="Times New Roman"/>
              </a:defRPr>
            </a:pPr>
            <a:r>
              <a:t>These viseme-oriented features capture articulation patterns corresponding to speech sounds.</a:t>
            </a:r>
          </a:p>
          <a:p>
            <a:pPr marL="558800" indent="-558800">
              <a:defRPr sz="4200">
                <a:latin typeface="+mj-lt"/>
                <a:ea typeface="+mj-ea"/>
                <a:cs typeface="+mj-cs"/>
                <a:sym typeface="Times New Roman"/>
              </a:defRPr>
            </a:pPr>
            <a:r>
              <a:t>The focus on the mouth region allows the model to learn articulation-specific information instead of global facial features.</a:t>
            </a:r>
          </a:p>
        </p:txBody>
      </p:sp>
      <p:pic>
        <p:nvPicPr>
          <p:cNvPr id="159" name="viseme_embeddings.png" descr="viseme_embeddings.png"/>
          <p:cNvPicPr>
            <a:picLocks noChangeAspect="1"/>
          </p:cNvPicPr>
          <p:nvPr/>
        </p:nvPicPr>
        <p:blipFill>
          <a:blip r:embed="rId2">
            <a:extLst/>
          </a:blip>
          <a:srcRect l="0" t="611" r="0" b="8094"/>
          <a:stretch>
            <a:fillRect/>
          </a:stretch>
        </p:blipFill>
        <p:spPr>
          <a:xfrm>
            <a:off x="15581307" y="3149599"/>
            <a:ext cx="7369186" cy="9296401"/>
          </a:xfrm>
          <a:prstGeom prst="rect">
            <a:avLst/>
          </a:prstGeom>
          <a:ln w="12700">
            <a:miter lim="400000"/>
          </a:ln>
        </p:spPr>
      </p:pic>
      <p:sp>
        <p:nvSpPr>
          <p:cNvPr id="160" name="Fig. 3. Video Embeddings"/>
          <p:cNvSpPr txBox="1"/>
          <p:nvPr/>
        </p:nvSpPr>
        <p:spPr>
          <a:xfrm>
            <a:off x="17145000" y="12593792"/>
            <a:ext cx="4445000" cy="5172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spcBef>
                <a:spcPts val="1200"/>
              </a:spcBef>
              <a:defRPr sz="3000">
                <a:latin typeface="+mj-lt"/>
                <a:ea typeface="+mj-ea"/>
                <a:cs typeface="+mj-cs"/>
                <a:sym typeface="Times New Roman"/>
              </a:defRPr>
            </a:pPr>
            <a:r>
              <a:rPr b="1"/>
              <a:t>Fig. 3.</a:t>
            </a:r>
            <a:r>
              <a:t> Video Embeddings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Temporal Alignment"/>
          <p:cNvSpPr txBox="1"/>
          <p:nvPr>
            <p:ph type="title"/>
          </p:nvPr>
        </p:nvSpPr>
        <p:spPr>
          <a:prstGeom prst="rect">
            <a:avLst/>
          </a:prstGeom>
        </p:spPr>
        <p:txBody>
          <a:bodyPr/>
          <a:lstStyle/>
          <a:p>
            <a:pPr/>
            <a:r>
              <a:t>Temporal Alignment</a:t>
            </a:r>
          </a:p>
        </p:txBody>
      </p:sp>
      <p:sp>
        <p:nvSpPr>
          <p:cNvPr id="163" name="The extracted audio and visual embeddings are aligned on the basis of their timestamps. This guarantees that the appropriate alignment between the audio and visual embeddings is achieved as shown in the Fig. 4..…"/>
          <p:cNvSpPr txBox="1"/>
          <p:nvPr>
            <p:ph type="body" sz="half" idx="1"/>
          </p:nvPr>
        </p:nvSpPr>
        <p:spPr>
          <a:xfrm>
            <a:off x="1689100" y="3149600"/>
            <a:ext cx="13462000" cy="9296400"/>
          </a:xfrm>
          <a:prstGeom prst="rect">
            <a:avLst/>
          </a:prstGeom>
        </p:spPr>
        <p:txBody>
          <a:bodyPr anchor="t"/>
          <a:lstStyle/>
          <a:p>
            <a:pPr marL="558800" indent="-558800">
              <a:defRPr sz="4200">
                <a:latin typeface="+mj-lt"/>
                <a:ea typeface="+mj-ea"/>
                <a:cs typeface="+mj-cs"/>
                <a:sym typeface="Times New Roman"/>
              </a:defRPr>
            </a:pPr>
            <a:r>
              <a:t>The extracted audio and visual embeddings are aligned on the basis of their timestamps. This guarantees that the appropriate alignment between the audio and visual embeddings is achieved as shown in the </a:t>
            </a:r>
            <a:r>
              <a:rPr b="1"/>
              <a:t>Fig. 4.</a:t>
            </a:r>
            <a:r>
              <a:t>.</a:t>
            </a:r>
          </a:p>
          <a:p>
            <a:pPr marL="558800" indent="-558800">
              <a:defRPr sz="4200">
                <a:latin typeface="+mj-lt"/>
                <a:ea typeface="+mj-ea"/>
                <a:cs typeface="+mj-cs"/>
                <a:sym typeface="Times New Roman"/>
              </a:defRPr>
            </a:pPr>
            <a:r>
              <a:t>At every time step [t], the audio embedding corresponding to the phoneme is matched with the visual embedding.</a:t>
            </a:r>
          </a:p>
          <a:p>
            <a:pPr marL="558800" indent="-558800">
              <a:defRPr sz="4200">
                <a:latin typeface="+mj-lt"/>
                <a:ea typeface="+mj-ea"/>
                <a:cs typeface="+mj-cs"/>
                <a:sym typeface="Times New Roman"/>
              </a:defRPr>
            </a:pPr>
            <a:r>
              <a:t>This provides a one-to-one correspondence between the entire sequence and thus enables interaction.</a:t>
            </a:r>
          </a:p>
          <a:p>
            <a:pPr marL="558800" indent="-558800">
              <a:defRPr sz="4200">
                <a:latin typeface="+mj-lt"/>
                <a:ea typeface="+mj-ea"/>
                <a:cs typeface="+mj-cs"/>
                <a:sym typeface="Times New Roman"/>
              </a:defRPr>
            </a:pPr>
            <a:r>
              <a:t>If the model has not been aligned, the model would incorrectly identify the mismatch between the unrelated audio and visual frames.</a:t>
            </a:r>
          </a:p>
        </p:txBody>
      </p:sp>
      <p:pic>
        <p:nvPicPr>
          <p:cNvPr id="164" name="timeline_of_audio_and_video.png" descr="timeline_of_audio_and_video.png"/>
          <p:cNvPicPr>
            <a:picLocks noChangeAspect="1"/>
          </p:cNvPicPr>
          <p:nvPr/>
        </p:nvPicPr>
        <p:blipFill>
          <a:blip r:embed="rId2">
            <a:extLst/>
          </a:blip>
          <a:srcRect l="0" t="5482" r="0" b="5482"/>
          <a:stretch>
            <a:fillRect/>
          </a:stretch>
        </p:blipFill>
        <p:spPr>
          <a:xfrm>
            <a:off x="15801565" y="3149599"/>
            <a:ext cx="7004870" cy="9296401"/>
          </a:xfrm>
          <a:prstGeom prst="rect">
            <a:avLst/>
          </a:prstGeom>
          <a:ln w="12700">
            <a:miter lim="400000"/>
          </a:ln>
        </p:spPr>
      </p:pic>
      <p:sp>
        <p:nvSpPr>
          <p:cNvPr id="165" name="Fig. 4. Timeline diagram showing aligned audio and visual frames."/>
          <p:cNvSpPr txBox="1"/>
          <p:nvPr/>
        </p:nvSpPr>
        <p:spPr>
          <a:xfrm>
            <a:off x="13944600" y="12593792"/>
            <a:ext cx="10325100" cy="5172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spcBef>
                <a:spcPts val="1200"/>
              </a:spcBef>
              <a:defRPr sz="3000">
                <a:latin typeface="+mj-lt"/>
                <a:ea typeface="+mj-ea"/>
                <a:cs typeface="+mj-cs"/>
                <a:sym typeface="Times New Roman"/>
              </a:defRPr>
            </a:pPr>
            <a:r>
              <a:rPr b="1"/>
              <a:t>Fig. 4.</a:t>
            </a:r>
            <a:r>
              <a:t> Timeline diagram showing aligned audio and visual frames.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Cross-Modal Attention Mechanism"/>
          <p:cNvSpPr txBox="1"/>
          <p:nvPr>
            <p:ph type="title"/>
          </p:nvPr>
        </p:nvSpPr>
        <p:spPr>
          <a:prstGeom prst="rect">
            <a:avLst/>
          </a:prstGeom>
        </p:spPr>
        <p:txBody>
          <a:bodyPr/>
          <a:lstStyle/>
          <a:p>
            <a:pPr/>
            <a:r>
              <a:t>Cross-Modal Attention Mechanism</a:t>
            </a:r>
          </a:p>
        </p:txBody>
      </p:sp>
      <p:sp>
        <p:nvSpPr>
          <p:cNvPr id="168" name="The core component of the framework is the cross-modal attention mechanism which is as represented in the Fig. 5..…"/>
          <p:cNvSpPr txBox="1"/>
          <p:nvPr>
            <p:ph type="body" sz="half" idx="1"/>
          </p:nvPr>
        </p:nvSpPr>
        <p:spPr>
          <a:xfrm>
            <a:off x="1689100" y="3149600"/>
            <a:ext cx="13462000" cy="9296400"/>
          </a:xfrm>
          <a:prstGeom prst="rect">
            <a:avLst/>
          </a:prstGeom>
        </p:spPr>
        <p:txBody>
          <a:bodyPr anchor="t"/>
          <a:lstStyle/>
          <a:p>
            <a:pPr marL="542036" indent="-542036" defTabSz="443484">
              <a:spcBef>
                <a:spcPts val="1100"/>
              </a:spcBef>
              <a:defRPr sz="4074">
                <a:latin typeface="+mj-lt"/>
                <a:ea typeface="+mj-ea"/>
                <a:cs typeface="+mj-cs"/>
                <a:sym typeface="Times New Roman"/>
              </a:defRPr>
            </a:pPr>
            <a:r>
              <a:t>The core component of the framework is the cross-modal attention mechanism which is as represented in the </a:t>
            </a:r>
            <a:r>
              <a:rPr b="1"/>
              <a:t>Fig. 5.</a:t>
            </a:r>
            <a:r>
              <a:t>.</a:t>
            </a:r>
          </a:p>
          <a:p>
            <a:pPr marL="542036" indent="-542036" defTabSz="443484">
              <a:spcBef>
                <a:spcPts val="1100"/>
              </a:spcBef>
              <a:defRPr sz="4074">
                <a:latin typeface="+mj-lt"/>
                <a:ea typeface="+mj-ea"/>
                <a:cs typeface="+mj-cs"/>
                <a:sym typeface="Times New Roman"/>
              </a:defRPr>
            </a:pPr>
            <a:r>
              <a:t>In this setup:</a:t>
            </a:r>
          </a:p>
          <a:p>
            <a:pPr lvl="1" marL="1154906" indent="-538956" defTabSz="443484">
              <a:spcBef>
                <a:spcPts val="1100"/>
              </a:spcBef>
              <a:buSzPct val="50000"/>
              <a:buBlip>
                <a:blip r:embed="rId2"/>
              </a:buBlip>
              <a:defRPr sz="4074">
                <a:latin typeface="+mj-lt"/>
                <a:ea typeface="+mj-ea"/>
                <a:cs typeface="+mj-cs"/>
                <a:sym typeface="Times New Roman"/>
              </a:defRPr>
            </a:pPr>
            <a:r>
              <a:t>Audio embeddings act as queries.</a:t>
            </a:r>
            <a:br/>
            <a:r>
              <a:t>Visual embeddings act as keys and values.</a:t>
            </a:r>
          </a:p>
          <a:p>
            <a:pPr lvl="1" marL="1154906" indent="-538956" defTabSz="443484">
              <a:spcBef>
                <a:spcPts val="1100"/>
              </a:spcBef>
              <a:buSzPct val="50000"/>
              <a:buBlip>
                <a:blip r:embed="rId2"/>
              </a:buBlip>
              <a:defRPr sz="4074">
                <a:latin typeface="+mj-lt"/>
                <a:ea typeface="+mj-ea"/>
                <a:cs typeface="+mj-cs"/>
                <a:sym typeface="Times New Roman"/>
              </a:defRPr>
            </a:pPr>
            <a:r>
              <a:t>The attention mechanism computes weighted interactions between audio and visual features, highlighting areas where articulation inconsistencies occur.</a:t>
            </a:r>
          </a:p>
          <a:p>
            <a:pPr lvl="1" marL="1154906" indent="-538956" defTabSz="443484">
              <a:spcBef>
                <a:spcPts val="1100"/>
              </a:spcBef>
              <a:buSzPct val="50000"/>
              <a:buBlip>
                <a:blip r:embed="rId2"/>
              </a:buBlip>
              <a:defRPr sz="4074">
                <a:latin typeface="+mj-lt"/>
                <a:ea typeface="+mj-ea"/>
                <a:cs typeface="+mj-cs"/>
                <a:sym typeface="Times New Roman"/>
              </a:defRPr>
            </a:pPr>
            <a:r>
              <a:t>This mechanism enables the model to dynamically focus on visual evidence corresponding to specific speech sounds.</a:t>
            </a:r>
          </a:p>
          <a:p>
            <a:pPr lvl="1" marL="1154906" indent="-538956" defTabSz="443484">
              <a:spcBef>
                <a:spcPts val="1100"/>
              </a:spcBef>
              <a:buSzPct val="50000"/>
              <a:buBlip>
                <a:blip r:embed="rId2"/>
              </a:buBlip>
              <a:defRPr sz="4074">
                <a:latin typeface="+mj-lt"/>
                <a:ea typeface="+mj-ea"/>
                <a:cs typeface="+mj-cs"/>
                <a:sym typeface="Times New Roman"/>
              </a:defRPr>
            </a:pPr>
            <a:r>
              <a:t>Unlike late fusion methods, this representation-level interaction allows the detection of fine-grained phoneme–viseme mismatches.</a:t>
            </a:r>
          </a:p>
        </p:txBody>
      </p:sp>
      <p:pic>
        <p:nvPicPr>
          <p:cNvPr id="169" name="framework_architecture.png" descr="framework_architecture.png"/>
          <p:cNvPicPr>
            <a:picLocks noChangeAspect="1"/>
          </p:cNvPicPr>
          <p:nvPr/>
        </p:nvPicPr>
        <p:blipFill>
          <a:blip r:embed="rId3">
            <a:extLst/>
          </a:blip>
          <a:srcRect l="0" t="10178" r="0" b="19412"/>
          <a:stretch>
            <a:fillRect/>
          </a:stretch>
        </p:blipFill>
        <p:spPr>
          <a:xfrm>
            <a:off x="14884400" y="3149600"/>
            <a:ext cx="9525000" cy="9296400"/>
          </a:xfrm>
          <a:prstGeom prst="rect">
            <a:avLst/>
          </a:prstGeom>
          <a:ln w="12700">
            <a:miter lim="400000"/>
          </a:ln>
        </p:spPr>
      </p:pic>
      <p:sp>
        <p:nvSpPr>
          <p:cNvPr id="170" name="Fig. 5. Cross-Modal Attention Framework"/>
          <p:cNvSpPr txBox="1"/>
          <p:nvPr/>
        </p:nvSpPr>
        <p:spPr>
          <a:xfrm>
            <a:off x="15875000" y="11780992"/>
            <a:ext cx="6667500" cy="5172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spcBef>
                <a:spcPts val="1200"/>
              </a:spcBef>
              <a:defRPr sz="3000">
                <a:latin typeface="+mj-lt"/>
                <a:ea typeface="+mj-ea"/>
                <a:cs typeface="+mj-cs"/>
                <a:sym typeface="Times New Roman"/>
              </a:defRPr>
            </a:pPr>
            <a:r>
              <a:rPr b="1"/>
              <a:t>Fig. 5.</a:t>
            </a:r>
            <a:r>
              <a:t> Cross-Modal Attention Framework</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Dataset Information"/>
          <p:cNvSpPr txBox="1"/>
          <p:nvPr>
            <p:ph type="title" idx="4294967295"/>
          </p:nvPr>
        </p:nvSpPr>
        <p:spPr>
          <a:prstGeom prst="rect">
            <a:avLst/>
          </a:prstGeom>
        </p:spPr>
        <p:txBody>
          <a:bodyPr/>
          <a:lstStyle/>
          <a:p>
            <a:pPr/>
            <a:r>
              <a:t>Dataset Information</a:t>
            </a:r>
          </a:p>
        </p:txBody>
      </p:sp>
      <p:sp>
        <p:nvSpPr>
          <p:cNvPr id="173" name="FakeAVCeleb v1.2…"/>
          <p:cNvSpPr txBox="1"/>
          <p:nvPr>
            <p:ph type="body" idx="4294967295"/>
          </p:nvPr>
        </p:nvSpPr>
        <p:spPr>
          <a:prstGeom prst="rect">
            <a:avLst/>
          </a:prstGeom>
        </p:spPr>
        <p:txBody>
          <a:bodyPr anchor="t"/>
          <a:lstStyle/>
          <a:p>
            <a:pPr marL="396748" indent="-396748" defTabSz="324611">
              <a:spcBef>
                <a:spcPts val="900"/>
              </a:spcBef>
              <a:defRPr b="1" sz="2982">
                <a:latin typeface="+mj-lt"/>
                <a:ea typeface="+mj-ea"/>
                <a:cs typeface="+mj-cs"/>
                <a:sym typeface="Times New Roman"/>
              </a:defRPr>
            </a:pPr>
            <a:r>
              <a:t>FakeAVCeleb v1.2</a:t>
            </a:r>
          </a:p>
          <a:p>
            <a:pPr lvl="1" marL="845343" indent="-394493" defTabSz="324611">
              <a:spcBef>
                <a:spcPts val="800"/>
              </a:spcBef>
              <a:buSzPct val="50000"/>
              <a:buBlip>
                <a:blip r:embed="rId2"/>
              </a:buBlip>
              <a:defRPr sz="2982">
                <a:latin typeface="+mj-lt"/>
                <a:ea typeface="+mj-ea"/>
                <a:cs typeface="+mj-cs"/>
                <a:sym typeface="Times New Roman"/>
              </a:defRPr>
            </a:pPr>
            <a:r>
              <a:t>A large-scale audio-visual deepfake dataset designed to analyze inconsistencies between speech and facial articulation.</a:t>
            </a:r>
          </a:p>
          <a:p>
            <a:pPr lvl="1" marL="845343" indent="-394493" defTabSz="324611">
              <a:spcBef>
                <a:spcPts val="800"/>
              </a:spcBef>
              <a:buSzPct val="50000"/>
              <a:buBlip>
                <a:blip r:embed="rId2"/>
              </a:buBlip>
              <a:defRPr sz="2982">
                <a:latin typeface="+mj-lt"/>
                <a:ea typeface="+mj-ea"/>
                <a:cs typeface="+mj-cs"/>
                <a:sym typeface="Times New Roman"/>
              </a:defRPr>
            </a:pPr>
            <a:r>
              <a:t>Contains 21k+ videos with controlled combinations of real and manipulated audio and video streams</a:t>
            </a:r>
          </a:p>
          <a:p>
            <a:pPr lvl="1" marL="845343" indent="-394493" defTabSz="324611">
              <a:spcBef>
                <a:spcPts val="800"/>
              </a:spcBef>
              <a:buSzPct val="50000"/>
              <a:buBlip>
                <a:blip r:embed="rId2"/>
              </a:buBlip>
              <a:defRPr sz="2982">
                <a:latin typeface="+mj-lt"/>
                <a:ea typeface="+mj-ea"/>
                <a:cs typeface="+mj-cs"/>
                <a:sym typeface="Times New Roman"/>
              </a:defRPr>
            </a:pPr>
            <a:r>
              <a:t>Enables evaluation of multimodal deepfake detection systems</a:t>
            </a:r>
          </a:p>
          <a:p>
            <a:pPr marL="396748" indent="-396748" defTabSz="324611">
              <a:spcBef>
                <a:spcPts val="900"/>
              </a:spcBef>
              <a:defRPr b="1" sz="2982">
                <a:latin typeface="+mj-lt"/>
                <a:ea typeface="+mj-ea"/>
                <a:cs typeface="+mj-cs"/>
                <a:sym typeface="Times New Roman"/>
              </a:defRPr>
            </a:pPr>
            <a:r>
              <a:t>Manipulation Categories</a:t>
            </a:r>
          </a:p>
          <a:p>
            <a:pPr lvl="1" marL="845343" indent="-394493" defTabSz="324611">
              <a:spcBef>
                <a:spcPts val="800"/>
              </a:spcBef>
              <a:buSzPct val="50000"/>
              <a:buBlip>
                <a:blip r:embed="rId2"/>
              </a:buBlip>
              <a:defRPr sz="2982">
                <a:latin typeface="+mj-lt"/>
                <a:ea typeface="+mj-ea"/>
                <a:cs typeface="+mj-cs"/>
                <a:sym typeface="Times New Roman"/>
              </a:defRPr>
            </a:pPr>
            <a:r>
              <a:t>RealVideo – RealAudio</a:t>
            </a:r>
          </a:p>
          <a:p>
            <a:pPr lvl="1" marL="845343" indent="-394493" defTabSz="324611">
              <a:spcBef>
                <a:spcPts val="800"/>
              </a:spcBef>
              <a:buSzPct val="50000"/>
              <a:buBlip>
                <a:blip r:embed="rId2"/>
              </a:buBlip>
              <a:defRPr sz="2982">
                <a:latin typeface="+mj-lt"/>
                <a:ea typeface="+mj-ea"/>
                <a:cs typeface="+mj-cs"/>
                <a:sym typeface="Times New Roman"/>
              </a:defRPr>
            </a:pPr>
            <a:r>
              <a:t>FakeVideo – RealAudio</a:t>
            </a:r>
          </a:p>
          <a:p>
            <a:pPr lvl="1" marL="845343" indent="-394493" defTabSz="324611">
              <a:spcBef>
                <a:spcPts val="800"/>
              </a:spcBef>
              <a:buSzPct val="50000"/>
              <a:buBlip>
                <a:blip r:embed="rId2"/>
              </a:buBlip>
              <a:defRPr sz="2982">
                <a:latin typeface="+mj-lt"/>
                <a:ea typeface="+mj-ea"/>
                <a:cs typeface="+mj-cs"/>
                <a:sym typeface="Times New Roman"/>
              </a:defRPr>
            </a:pPr>
            <a:r>
              <a:t>RealVideo – FakeAudio</a:t>
            </a:r>
          </a:p>
          <a:p>
            <a:pPr lvl="1" marL="845343" indent="-394493" defTabSz="324611">
              <a:spcBef>
                <a:spcPts val="800"/>
              </a:spcBef>
              <a:buSzPct val="50000"/>
              <a:buBlip>
                <a:blip r:embed="rId2"/>
              </a:buBlip>
              <a:defRPr sz="2982">
                <a:latin typeface="+mj-lt"/>
                <a:ea typeface="+mj-ea"/>
                <a:cs typeface="+mj-cs"/>
                <a:sym typeface="Times New Roman"/>
              </a:defRPr>
            </a:pPr>
            <a:r>
              <a:t>FakeVideo – FakeAudio</a:t>
            </a:r>
          </a:p>
          <a:p>
            <a:pPr marL="396748" indent="-396748" defTabSz="324611">
              <a:spcBef>
                <a:spcPts val="800"/>
              </a:spcBef>
              <a:defRPr b="1" sz="2982">
                <a:latin typeface="+mj-lt"/>
                <a:ea typeface="+mj-ea"/>
                <a:cs typeface="+mj-cs"/>
                <a:sym typeface="Times New Roman"/>
              </a:defRPr>
            </a:pPr>
            <a:r>
              <a:t>Labeling Strategy</a:t>
            </a:r>
            <a:endParaRPr b="0"/>
          </a:p>
          <a:p>
            <a:pPr lvl="1" marL="845343" indent="-394493" defTabSz="324611">
              <a:spcBef>
                <a:spcPts val="800"/>
              </a:spcBef>
              <a:buSzPct val="50000"/>
              <a:buBlip>
                <a:blip r:embed="rId2"/>
              </a:buBlip>
              <a:defRPr sz="2982">
                <a:latin typeface="+mj-lt"/>
                <a:ea typeface="+mj-ea"/>
                <a:cs typeface="+mj-cs"/>
                <a:sym typeface="Times New Roman"/>
              </a:defRPr>
            </a:pPr>
            <a:r>
              <a:t>RealVideo–RealAudio → Real</a:t>
            </a:r>
          </a:p>
          <a:p>
            <a:pPr lvl="1" marL="845343" indent="-394493" defTabSz="324611">
              <a:spcBef>
                <a:spcPts val="800"/>
              </a:spcBef>
              <a:buSzPct val="50000"/>
              <a:buBlip>
                <a:blip r:embed="rId2"/>
              </a:buBlip>
              <a:defRPr sz="2982">
                <a:latin typeface="+mj-lt"/>
                <a:ea typeface="+mj-ea"/>
                <a:cs typeface="+mj-cs"/>
                <a:sym typeface="Times New Roman"/>
              </a:defRPr>
            </a:pPr>
            <a:r>
              <a:t>Any manipulated audio or video → Fake</a:t>
            </a:r>
          </a:p>
          <a:p>
            <a:pPr marL="396748" indent="-396748" defTabSz="324611">
              <a:spcBef>
                <a:spcPts val="900"/>
              </a:spcBef>
              <a:defRPr b="1" sz="2982">
                <a:latin typeface="+mj-lt"/>
                <a:ea typeface="+mj-ea"/>
                <a:cs typeface="+mj-cs"/>
                <a:sym typeface="Times New Roman"/>
              </a:defRPr>
            </a:pPr>
            <a:r>
              <a:t>Data Handling</a:t>
            </a:r>
          </a:p>
          <a:p>
            <a:pPr lvl="1" marL="845343" indent="-394493" defTabSz="324611">
              <a:spcBef>
                <a:spcPts val="800"/>
              </a:spcBef>
              <a:buSzPct val="50000"/>
              <a:buBlip>
                <a:blip r:embed="rId2"/>
              </a:buBlip>
              <a:defRPr sz="2982">
                <a:latin typeface="+mj-lt"/>
                <a:ea typeface="+mj-ea"/>
                <a:cs typeface="+mj-cs"/>
                <a:sym typeface="Times New Roman"/>
              </a:defRPr>
            </a:pPr>
            <a:r>
              <a:t>Subject-wise train / validation / test split</a:t>
            </a:r>
          </a:p>
          <a:p>
            <a:pPr lvl="1" marL="845343" indent="-394493" defTabSz="324611">
              <a:spcBef>
                <a:spcPts val="800"/>
              </a:spcBef>
              <a:buSzPct val="50000"/>
              <a:buBlip>
                <a:blip r:embed="rId2"/>
              </a:buBlip>
              <a:defRPr sz="2982">
                <a:latin typeface="+mj-lt"/>
                <a:ea typeface="+mj-ea"/>
                <a:cs typeface="+mj-cs"/>
                <a:sym typeface="Times New Roman"/>
              </a:defRPr>
            </a:pPr>
            <a:r>
              <a:t>Prevents identity leakage between splits</a:t>
            </a:r>
          </a:p>
          <a:p>
            <a:pPr lvl="1" marL="845343" indent="-394493" defTabSz="324611">
              <a:spcBef>
                <a:spcPts val="800"/>
              </a:spcBef>
              <a:buSzPct val="50000"/>
              <a:buBlip>
                <a:blip r:embed="rId2"/>
              </a:buBlip>
              <a:defRPr sz="2982">
                <a:latin typeface="+mj-lt"/>
                <a:ea typeface="+mj-ea"/>
                <a:cs typeface="+mj-cs"/>
                <a:sym typeface="Times New Roman"/>
              </a:defRPr>
            </a:pPr>
            <a:r>
              <a:t>Ensures fair generalization and unbiased evaluation</a:t>
            </a:r>
          </a:p>
          <a:p>
            <a:pPr marL="0" indent="0" defTabSz="324611">
              <a:spcBef>
                <a:spcPts val="0"/>
              </a:spcBef>
              <a:buSzTx/>
              <a:buNone/>
              <a:defRPr sz="2982">
                <a:latin typeface="+mj-lt"/>
                <a:ea typeface="+mj-ea"/>
                <a:cs typeface="+mj-cs"/>
                <a:sym typeface="Times New Roman"/>
              </a:defRPr>
            </a:pPr>
            <a:r>
              <a:rPr b="1"/>
              <a:t>Reference:</a:t>
            </a:r>
            <a:r>
              <a:t> FakeAVCeleb Dataset </a:t>
            </a:r>
            <a:r>
              <a:rPr i="1"/>
              <a:t>(Khalid et al.)</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Key Technologies used in the Implementation"/>
          <p:cNvSpPr txBox="1"/>
          <p:nvPr>
            <p:ph type="title"/>
          </p:nvPr>
        </p:nvSpPr>
        <p:spPr>
          <a:prstGeom prst="rect">
            <a:avLst/>
          </a:prstGeom>
        </p:spPr>
        <p:txBody>
          <a:bodyPr/>
          <a:lstStyle/>
          <a:p>
            <a:pPr/>
            <a:r>
              <a:t>Key Technologies used in the Implementation</a:t>
            </a:r>
          </a:p>
        </p:txBody>
      </p:sp>
      <p:sp>
        <p:nvSpPr>
          <p:cNvPr id="176" name="Python &amp; Deep Learning Frameworks: Python will be used as the primary programming language along with deep learning libraries such as PyTorch for implementing and training neural network models.…"/>
          <p:cNvSpPr txBox="1"/>
          <p:nvPr>
            <p:ph type="body" idx="1"/>
          </p:nvPr>
        </p:nvSpPr>
        <p:spPr>
          <a:prstGeom prst="rect">
            <a:avLst/>
          </a:prstGeom>
        </p:spPr>
        <p:txBody>
          <a:bodyPr anchor="t"/>
          <a:lstStyle/>
          <a:p>
            <a:pPr marL="777875" indent="-777875" defTabSz="12700">
              <a:spcBef>
                <a:spcPts val="0"/>
              </a:spcBef>
              <a:buSzPct val="100000"/>
              <a:buAutoNum type="arabicPeriod" startAt="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200">
                <a:latin typeface="+mj-lt"/>
                <a:ea typeface="+mj-ea"/>
                <a:cs typeface="+mj-cs"/>
                <a:sym typeface="Times New Roman"/>
              </a:defRPr>
            </a:pPr>
            <a:r>
              <a:rPr b="1"/>
              <a:t>Python &amp; Deep Learning Frameworks:</a:t>
            </a:r>
            <a:r>
              <a:t> Python will be used as the primary programming language along with deep learning libraries such as PyTorch for implementing and training neural network models.</a:t>
            </a:r>
          </a:p>
          <a:p>
            <a:pPr marL="777875" indent="-777875" defTabSz="12700">
              <a:spcBef>
                <a:spcPts val="0"/>
              </a:spcBef>
              <a:buSzPct val="100000"/>
              <a:buAutoNum type="arabicPeriod" startAt="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200">
                <a:latin typeface="+mj-lt"/>
                <a:ea typeface="+mj-ea"/>
                <a:cs typeface="+mj-cs"/>
                <a:sym typeface="Times New Roman"/>
              </a:defRPr>
            </a:pPr>
            <a:r>
              <a:rPr b="1"/>
              <a:t>Audio Feature Extraction (Wav2Vec 2.0):</a:t>
            </a:r>
            <a:r>
              <a:t> The Wav2Vec 2.0 model will be used to extract phoneme-aware speech embeddings from audio signals to capture linguistic and acoustic patterns.</a:t>
            </a:r>
          </a:p>
          <a:p>
            <a:pPr marL="777875" indent="-777875" defTabSz="12700">
              <a:spcBef>
                <a:spcPts val="0"/>
              </a:spcBef>
              <a:buSzPct val="100000"/>
              <a:buAutoNum type="arabicPeriod" startAt="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200">
                <a:latin typeface="+mj-lt"/>
                <a:ea typeface="+mj-ea"/>
                <a:cs typeface="+mj-cs"/>
                <a:sym typeface="Times New Roman"/>
              </a:defRPr>
            </a:pPr>
            <a:r>
              <a:rPr b="1"/>
              <a:t>Computer Vision Techniques: </a:t>
            </a:r>
            <a:r>
              <a:t>OpenCV and ResNet-18 CNN architecture will be used for face detection, mouth region extraction, and viseme-based visual feature extraction from video frames.</a:t>
            </a:r>
          </a:p>
          <a:p>
            <a:pPr marL="777875" indent="-777875" defTabSz="12700">
              <a:spcBef>
                <a:spcPts val="0"/>
              </a:spcBef>
              <a:buSzPct val="100000"/>
              <a:buAutoNum type="arabicPeriod" startAt="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200">
                <a:latin typeface="+mj-lt"/>
                <a:ea typeface="+mj-ea"/>
                <a:cs typeface="+mj-cs"/>
                <a:sym typeface="Times New Roman"/>
              </a:defRPr>
            </a:pPr>
            <a:r>
              <a:rPr b="1"/>
              <a:t>Cross-Modal Learning and Attention Mechanisms: </a:t>
            </a:r>
            <a:r>
              <a:t>Cross-modal attention techniques will be used to integrate audio and visual features, enabling the detection of phoneme–viseme inconsistencies in manipulated videos.</a:t>
            </a:r>
          </a:p>
          <a:p>
            <a:pPr marL="777875" indent="-777875" defTabSz="12700">
              <a:spcBef>
                <a:spcPts val="0"/>
              </a:spcBef>
              <a:buSzPct val="100000"/>
              <a:buAutoNum type="arabicPeriod" startAt="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200">
                <a:latin typeface="+mj-lt"/>
                <a:ea typeface="+mj-ea"/>
                <a:cs typeface="+mj-cs"/>
                <a:sym typeface="Times New Roman"/>
              </a:defRPr>
            </a:pPr>
            <a:r>
              <a:rPr b="1"/>
              <a:t>Dataset and Evaluation Tools:</a:t>
            </a:r>
            <a:r>
              <a:t> The FakeAV dataset will be used for training and testing the model, while performance will be evaluated using metrics such as Accuracy, Precision, Recall, and F1-Score.</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Implementation"/>
          <p:cNvSpPr txBox="1"/>
          <p:nvPr>
            <p:ph type="title"/>
          </p:nvPr>
        </p:nvSpPr>
        <p:spPr>
          <a:prstGeom prst="rect">
            <a:avLst/>
          </a:prstGeom>
        </p:spPr>
        <p:txBody>
          <a:bodyPr/>
          <a:lstStyle/>
          <a:p>
            <a:pPr/>
            <a:r>
              <a:t>Implementation</a:t>
            </a:r>
          </a:p>
        </p:txBody>
      </p:sp>
      <p:sp>
        <p:nvSpPr>
          <p:cNvPr id="179" name="Data Preprocessing Pipeline…"/>
          <p:cNvSpPr txBox="1"/>
          <p:nvPr>
            <p:ph type="body" idx="4294967295"/>
          </p:nvPr>
        </p:nvSpPr>
        <p:spPr>
          <a:prstGeom prst="rect">
            <a:avLst/>
          </a:prstGeom>
        </p:spPr>
        <p:txBody>
          <a:bodyPr anchor="t"/>
          <a:lstStyle/>
          <a:p>
            <a:pPr marL="0" indent="0" defTabSz="425195">
              <a:spcBef>
                <a:spcPts val="0"/>
              </a:spcBef>
              <a:buSzTx/>
              <a:buNone/>
              <a:defRPr b="1" sz="3906">
                <a:latin typeface="+mj-lt"/>
                <a:ea typeface="+mj-ea"/>
                <a:cs typeface="+mj-cs"/>
                <a:sym typeface="Times New Roman"/>
              </a:defRPr>
            </a:pPr>
            <a:r>
              <a:t>Data Preprocessing Pipeline</a:t>
            </a:r>
          </a:p>
          <a:p>
            <a:pPr marL="519684" indent="-519684" defTabSz="425195">
              <a:spcBef>
                <a:spcPts val="1100"/>
              </a:spcBef>
              <a:defRPr sz="3906">
                <a:latin typeface="+mj-lt"/>
                <a:ea typeface="+mj-ea"/>
                <a:cs typeface="+mj-cs"/>
                <a:sym typeface="Times New Roman"/>
              </a:defRPr>
            </a:pPr>
            <a:r>
              <a:t>This ensures reproducibility and subject-independent splitting.</a:t>
            </a:r>
          </a:p>
          <a:p>
            <a:pPr marL="519684" indent="-519684" defTabSz="425195">
              <a:spcBef>
                <a:spcPts val="1100"/>
              </a:spcBef>
              <a:defRPr sz="3906">
                <a:latin typeface="+mj-lt"/>
                <a:ea typeface="+mj-ea"/>
                <a:cs typeface="+mj-cs"/>
                <a:sym typeface="Times New Roman"/>
              </a:defRPr>
            </a:pPr>
            <a:r>
              <a:t>From each video:</a:t>
            </a:r>
          </a:p>
          <a:p>
            <a:pPr lvl="1" marL="1107281" indent="-516731" defTabSz="425195">
              <a:spcBef>
                <a:spcPts val="1100"/>
              </a:spcBef>
              <a:buSzPct val="50000"/>
              <a:buBlip>
                <a:blip r:embed="rId2"/>
              </a:buBlip>
              <a:defRPr sz="3906">
                <a:latin typeface="+mj-lt"/>
                <a:ea typeface="+mj-ea"/>
                <a:cs typeface="+mj-cs"/>
                <a:sym typeface="Times New Roman"/>
              </a:defRPr>
            </a:pPr>
            <a:r>
              <a:t>Audio is extracted and resampled.</a:t>
            </a:r>
          </a:p>
          <a:p>
            <a:pPr lvl="1" marL="1107281" indent="-516731" defTabSz="425195">
              <a:spcBef>
                <a:spcPts val="1100"/>
              </a:spcBef>
              <a:buSzPct val="50000"/>
              <a:buBlip>
                <a:blip r:embed="rId2"/>
              </a:buBlip>
              <a:defRPr sz="3906">
                <a:latin typeface="+mj-lt"/>
                <a:ea typeface="+mj-ea"/>
                <a:cs typeface="+mj-cs"/>
                <a:sym typeface="Times New Roman"/>
              </a:defRPr>
            </a:pPr>
            <a:r>
              <a:t>Frames are extracted from the video stream.</a:t>
            </a:r>
          </a:p>
          <a:p>
            <a:pPr lvl="1" marL="1107281" indent="-516731" defTabSz="425195">
              <a:spcBef>
                <a:spcPts val="1100"/>
              </a:spcBef>
              <a:buSzPct val="50000"/>
              <a:buBlip>
                <a:blip r:embed="rId2"/>
              </a:buBlip>
              <a:defRPr sz="3906">
                <a:latin typeface="+mj-lt"/>
                <a:ea typeface="+mj-ea"/>
                <a:cs typeface="+mj-cs"/>
                <a:sym typeface="Times New Roman"/>
              </a:defRPr>
            </a:pPr>
            <a:r>
              <a:t>Face detection is performed.</a:t>
            </a:r>
          </a:p>
          <a:p>
            <a:pPr lvl="1" marL="1107281" indent="-516731" defTabSz="425195">
              <a:spcBef>
                <a:spcPts val="1100"/>
              </a:spcBef>
              <a:buSzPct val="50000"/>
              <a:buBlip>
                <a:blip r:embed="rId2"/>
              </a:buBlip>
              <a:defRPr sz="3906">
                <a:latin typeface="+mj-lt"/>
                <a:ea typeface="+mj-ea"/>
                <a:cs typeface="+mj-cs"/>
                <a:sym typeface="Times New Roman"/>
              </a:defRPr>
            </a:pPr>
            <a:r>
              <a:t>Mouth region is cropped and resized.</a:t>
            </a:r>
          </a:p>
          <a:p>
            <a:pPr marL="519684" indent="-519684" defTabSz="425195">
              <a:spcBef>
                <a:spcPts val="1100"/>
              </a:spcBef>
              <a:defRPr sz="3906">
                <a:latin typeface="+mj-lt"/>
                <a:ea typeface="+mj-ea"/>
                <a:cs typeface="+mj-cs"/>
                <a:sym typeface="Times New Roman"/>
              </a:defRPr>
            </a:pPr>
            <a:r>
              <a:t>This preprocessing pipeline ensures that both audio and visual inputs are standardized before feature extraction</a:t>
            </a:r>
          </a:p>
          <a:p>
            <a:pPr marL="0" indent="0" defTabSz="425195">
              <a:spcBef>
                <a:spcPts val="0"/>
              </a:spcBef>
              <a:buSzTx/>
              <a:buNone/>
              <a:defRPr b="1" sz="3906">
                <a:latin typeface="+mj-lt"/>
                <a:ea typeface="+mj-ea"/>
                <a:cs typeface="+mj-cs"/>
                <a:sym typeface="Times New Roman"/>
              </a:defRPr>
            </a:pPr>
          </a:p>
          <a:p>
            <a:pPr marL="0" indent="0" defTabSz="425195">
              <a:spcBef>
                <a:spcPts val="0"/>
              </a:spcBef>
              <a:buSzTx/>
              <a:buNone/>
              <a:defRPr b="1" sz="3906">
                <a:latin typeface="+mj-lt"/>
                <a:ea typeface="+mj-ea"/>
                <a:cs typeface="+mj-cs"/>
                <a:sym typeface="Times New Roman"/>
              </a:defRPr>
            </a:pPr>
            <a:r>
              <a:t>Audio Feature Extraction</a:t>
            </a:r>
          </a:p>
          <a:p>
            <a:pPr marL="519684" indent="-519684" defTabSz="425195">
              <a:spcBef>
                <a:spcPts val="1100"/>
              </a:spcBef>
              <a:defRPr sz="3906">
                <a:latin typeface="+mj-lt"/>
                <a:ea typeface="+mj-ea"/>
                <a:cs typeface="+mj-cs"/>
                <a:sym typeface="Times New Roman"/>
              </a:defRPr>
            </a:pPr>
            <a:r>
              <a:t>Speech signals are passed through a pretrained Wav2Vec 2.0 model implemented in PyTorch.</a:t>
            </a:r>
          </a:p>
          <a:p>
            <a:pPr marL="519684" indent="-519684" defTabSz="425195">
              <a:spcBef>
                <a:spcPts val="1100"/>
              </a:spcBef>
              <a:defRPr sz="3906">
                <a:latin typeface="+mj-lt"/>
                <a:ea typeface="+mj-ea"/>
                <a:cs typeface="+mj-cs"/>
                <a:sym typeface="Times New Roman"/>
              </a:defRPr>
            </a:pPr>
            <a:r>
              <a:t>The model generates contextual phoneme-aware embeddings without requiring explicit phoneme segmentation.</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Implementation"/>
          <p:cNvSpPr txBox="1"/>
          <p:nvPr>
            <p:ph type="title"/>
          </p:nvPr>
        </p:nvSpPr>
        <p:spPr>
          <a:prstGeom prst="rect">
            <a:avLst/>
          </a:prstGeom>
        </p:spPr>
        <p:txBody>
          <a:bodyPr/>
          <a:lstStyle/>
          <a:p>
            <a:pPr/>
            <a:r>
              <a:t>Implementation</a:t>
            </a:r>
          </a:p>
        </p:txBody>
      </p:sp>
      <p:sp>
        <p:nvSpPr>
          <p:cNvPr id="182" name="Visual Feature Extraction…"/>
          <p:cNvSpPr txBox="1"/>
          <p:nvPr>
            <p:ph type="body" idx="4294967295"/>
          </p:nvPr>
        </p:nvSpPr>
        <p:spPr>
          <a:prstGeom prst="rect">
            <a:avLst/>
          </a:prstGeom>
        </p:spPr>
        <p:txBody>
          <a:bodyPr anchor="t"/>
          <a:lstStyle/>
          <a:p>
            <a:pPr marL="0" indent="0" defTabSz="416052">
              <a:spcBef>
                <a:spcPts val="0"/>
              </a:spcBef>
              <a:buSzTx/>
              <a:buNone/>
              <a:defRPr b="1" sz="3822">
                <a:latin typeface="+mj-lt"/>
                <a:ea typeface="+mj-ea"/>
                <a:cs typeface="+mj-cs"/>
                <a:sym typeface="Times New Roman"/>
              </a:defRPr>
            </a:pPr>
            <a:r>
              <a:t>Visual Feature Extraction</a:t>
            </a:r>
          </a:p>
          <a:p>
            <a:pPr marL="508508" indent="-508508" defTabSz="416052">
              <a:spcBef>
                <a:spcPts val="0"/>
              </a:spcBef>
              <a:defRPr sz="3822">
                <a:latin typeface="+mj-lt"/>
                <a:ea typeface="+mj-ea"/>
                <a:cs typeface="+mj-cs"/>
                <a:sym typeface="Times New Roman"/>
              </a:defRPr>
            </a:pPr>
            <a:r>
              <a:t>For the visual stream, the following are used:</a:t>
            </a:r>
          </a:p>
          <a:p>
            <a:pPr lvl="1" marL="1083468" indent="-505618" defTabSz="416052">
              <a:spcBef>
                <a:spcPts val="0"/>
              </a:spcBef>
              <a:buSzPct val="50000"/>
              <a:buBlip>
                <a:blip r:embed="rId2"/>
              </a:buBlip>
              <a:defRPr sz="3822">
                <a:latin typeface="+mj-lt"/>
                <a:ea typeface="+mj-ea"/>
                <a:cs typeface="+mj-cs"/>
                <a:sym typeface="Times New Roman"/>
              </a:defRPr>
            </a:pPr>
            <a:r>
              <a:t>OpenCV is used to extract frames</a:t>
            </a:r>
          </a:p>
          <a:p>
            <a:pPr lvl="1" marL="1083468" indent="-505618" defTabSz="416052">
              <a:spcBef>
                <a:spcPts val="0"/>
              </a:spcBef>
              <a:buSzPct val="50000"/>
              <a:buBlip>
                <a:blip r:embed="rId2"/>
              </a:buBlip>
              <a:defRPr sz="3822">
                <a:latin typeface="+mj-lt"/>
                <a:ea typeface="+mj-ea"/>
                <a:cs typeface="+mj-cs"/>
                <a:sym typeface="Times New Roman"/>
              </a:defRPr>
            </a:pPr>
            <a:r>
              <a:t>Face detection is used to extract the face region</a:t>
            </a:r>
          </a:p>
          <a:p>
            <a:pPr lvl="1" marL="1083468" indent="-505618" defTabSz="416052">
              <a:spcBef>
                <a:spcPts val="0"/>
              </a:spcBef>
              <a:buSzPct val="50000"/>
              <a:buBlip>
                <a:blip r:embed="rId2"/>
              </a:buBlip>
              <a:defRPr sz="3822">
                <a:latin typeface="+mj-lt"/>
                <a:ea typeface="+mj-ea"/>
                <a:cs typeface="+mj-cs"/>
                <a:sym typeface="Times New Roman"/>
              </a:defRPr>
            </a:pPr>
            <a:r>
              <a:t>Normalization of the mouth region is done</a:t>
            </a:r>
          </a:p>
          <a:p>
            <a:pPr marL="508508" indent="-508508" defTabSz="416052">
              <a:spcBef>
                <a:spcPts val="0"/>
              </a:spcBef>
              <a:defRPr sz="3822">
                <a:latin typeface="+mj-lt"/>
                <a:ea typeface="+mj-ea"/>
                <a:cs typeface="+mj-cs"/>
                <a:sym typeface="Times New Roman"/>
              </a:defRPr>
            </a:pPr>
            <a:r>
              <a:t>The cropped images are then passed through a ResNet-18 backbone to obtain feature embeddings that are viseme-oriented. </a:t>
            </a:r>
          </a:p>
          <a:p>
            <a:pPr marL="508508" indent="-508508" defTabSz="416052">
              <a:spcBef>
                <a:spcPts val="0"/>
              </a:spcBef>
              <a:defRPr sz="3822">
                <a:latin typeface="+mj-lt"/>
                <a:ea typeface="+mj-ea"/>
                <a:cs typeface="+mj-cs"/>
                <a:sym typeface="Times New Roman"/>
              </a:defRPr>
            </a:pPr>
            <a:r>
              <a:t>The choice of the ResNet-18 is due to a good balance between efficiency and effectiveness</a:t>
            </a:r>
          </a:p>
          <a:p>
            <a:pPr marL="0" indent="0" defTabSz="416052">
              <a:spcBef>
                <a:spcPts val="0"/>
              </a:spcBef>
              <a:buSzTx/>
              <a:buNone/>
              <a:defRPr b="1" sz="3822">
                <a:latin typeface="+mj-lt"/>
                <a:ea typeface="+mj-ea"/>
                <a:cs typeface="+mj-cs"/>
                <a:sym typeface="Times New Roman"/>
              </a:defRPr>
            </a:pPr>
          </a:p>
          <a:p>
            <a:pPr marL="0" indent="0" defTabSz="416052">
              <a:spcBef>
                <a:spcPts val="0"/>
              </a:spcBef>
              <a:buSzTx/>
              <a:buNone/>
              <a:defRPr b="1" sz="3822">
                <a:latin typeface="+mj-lt"/>
                <a:ea typeface="+mj-ea"/>
                <a:cs typeface="+mj-cs"/>
                <a:sym typeface="Times New Roman"/>
              </a:defRPr>
            </a:pPr>
            <a:r>
              <a:t>Temporal Alignment</a:t>
            </a:r>
          </a:p>
          <a:p>
            <a:pPr marL="508508" indent="-508508" defTabSz="416052">
              <a:spcBef>
                <a:spcPts val="1000"/>
              </a:spcBef>
              <a:defRPr sz="3822">
                <a:latin typeface="+mj-lt"/>
                <a:ea typeface="+mj-ea"/>
                <a:cs typeface="+mj-cs"/>
                <a:sym typeface="Times New Roman"/>
              </a:defRPr>
            </a:pPr>
            <a:r>
              <a:t>Audio and visual embeddings are aligned frame-wise using timestamps.</a:t>
            </a:r>
          </a:p>
          <a:p>
            <a:pPr marL="508508" indent="-508508" defTabSz="416052">
              <a:spcBef>
                <a:spcPts val="1000"/>
              </a:spcBef>
              <a:defRPr sz="3822">
                <a:latin typeface="+mj-lt"/>
                <a:ea typeface="+mj-ea"/>
                <a:cs typeface="+mj-cs"/>
                <a:sym typeface="Times New Roman"/>
              </a:defRPr>
            </a:pPr>
            <a:r>
              <a:t>For each time step [t]:</a:t>
            </a:r>
          </a:p>
          <a:p>
            <a:pPr lvl="1" marL="1083468" indent="-505618" defTabSz="416052">
              <a:spcBef>
                <a:spcPts val="1000"/>
              </a:spcBef>
              <a:buSzPct val="50000"/>
              <a:buBlip>
                <a:blip r:embed="rId2"/>
              </a:buBlip>
              <a:defRPr sz="3822">
                <a:latin typeface="+mj-lt"/>
                <a:ea typeface="+mj-ea"/>
                <a:cs typeface="+mj-cs"/>
                <a:sym typeface="Times New Roman"/>
              </a:defRPr>
            </a:pPr>
            <a:r>
              <a:t>Phoneme embedding aₜ corresponds to visual embedding vₜ</a:t>
            </a:r>
          </a:p>
          <a:p>
            <a:pPr marL="508508" indent="-508508" defTabSz="416052">
              <a:spcBef>
                <a:spcPts val="1000"/>
              </a:spcBef>
              <a:defRPr sz="3822">
                <a:latin typeface="+mj-lt"/>
                <a:ea typeface="+mj-ea"/>
                <a:cs typeface="+mj-cs"/>
                <a:sym typeface="Times New Roman"/>
              </a:defRPr>
            </a:pPr>
            <a:r>
              <a:t>This ensures that the attention mechanism compares semantically relevant audio and visual information.</a:t>
            </a:r>
          </a:p>
          <a:p>
            <a:pPr marL="508508" indent="-508508" defTabSz="416052">
              <a:spcBef>
                <a:spcPts val="1000"/>
              </a:spcBef>
              <a:defRPr sz="3822">
                <a:latin typeface="+mj-lt"/>
                <a:ea typeface="+mj-ea"/>
                <a:cs typeface="+mj-cs"/>
                <a:sym typeface="Times New Roman"/>
              </a:defRPr>
            </a:pPr>
            <a:r>
              <a:t>Improper alignment would lead to incorrect mismatch detection.</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Implementation"/>
          <p:cNvSpPr txBox="1"/>
          <p:nvPr>
            <p:ph type="title"/>
          </p:nvPr>
        </p:nvSpPr>
        <p:spPr>
          <a:prstGeom prst="rect">
            <a:avLst/>
          </a:prstGeom>
        </p:spPr>
        <p:txBody>
          <a:bodyPr/>
          <a:lstStyle/>
          <a:p>
            <a:pPr/>
            <a:r>
              <a:t>Implementation</a:t>
            </a:r>
          </a:p>
        </p:txBody>
      </p:sp>
      <p:sp>
        <p:nvSpPr>
          <p:cNvPr id="185" name="Cross-Modal Attention Module…"/>
          <p:cNvSpPr txBox="1"/>
          <p:nvPr>
            <p:ph type="body" idx="4294967295"/>
          </p:nvPr>
        </p:nvSpPr>
        <p:spPr>
          <a:prstGeom prst="rect">
            <a:avLst/>
          </a:prstGeom>
        </p:spPr>
        <p:txBody>
          <a:bodyPr anchor="t"/>
          <a:lstStyle/>
          <a:p>
            <a:pPr marL="0" indent="0" defTabSz="457200">
              <a:spcBef>
                <a:spcPts val="0"/>
              </a:spcBef>
              <a:buSzTx/>
              <a:buNone/>
              <a:defRPr b="1" sz="4200">
                <a:latin typeface="+mj-lt"/>
                <a:ea typeface="+mj-ea"/>
                <a:cs typeface="+mj-cs"/>
                <a:sym typeface="Times New Roman"/>
              </a:defRPr>
            </a:pPr>
            <a:r>
              <a:t>Cross-Modal Attention Module</a:t>
            </a:r>
          </a:p>
          <a:p>
            <a:pPr marL="558800" indent="-558800" defTabSz="457200">
              <a:spcBef>
                <a:spcPts val="1200"/>
              </a:spcBef>
              <a:defRPr sz="4200">
                <a:latin typeface="Times Roman"/>
                <a:ea typeface="Times Roman"/>
                <a:cs typeface="Times Roman"/>
                <a:sym typeface="Times Roman"/>
              </a:defRPr>
            </a:pPr>
            <a:r>
              <a:t>The attention mechanism is implemented using PyTorch tensor operations.</a:t>
            </a:r>
          </a:p>
          <a:p>
            <a:pPr marL="558800" indent="-558800" defTabSz="457200">
              <a:spcBef>
                <a:spcPts val="1200"/>
              </a:spcBef>
              <a:defRPr sz="4200">
                <a:latin typeface="Times Roman"/>
                <a:ea typeface="Times Roman"/>
                <a:cs typeface="Times Roman"/>
                <a:sym typeface="Times Roman"/>
              </a:defRPr>
            </a:pPr>
            <a:r>
              <a:t>The audio embeddings are used as queries and the visual embeddings are used as keys and values.</a:t>
            </a:r>
          </a:p>
          <a:p>
            <a:pPr marL="558800" indent="-558800" defTabSz="457200">
              <a:spcBef>
                <a:spcPts val="1200"/>
              </a:spcBef>
              <a:defRPr sz="4200">
                <a:latin typeface="Times Roman"/>
                <a:ea typeface="Times Roman"/>
                <a:cs typeface="Times Roman"/>
                <a:sym typeface="Times Roman"/>
              </a:defRPr>
            </a:pPr>
            <a:r>
              <a:t>The attention layer computes weighted interactions between modalities, enabling the model to focus on visual articulation evidence corresponding to speech sounds.</a:t>
            </a:r>
          </a:p>
          <a:p>
            <a:pPr marL="558800" indent="-558800" defTabSz="457200">
              <a:spcBef>
                <a:spcPts val="1200"/>
              </a:spcBef>
              <a:defRPr sz="4200">
                <a:latin typeface="Times Roman"/>
                <a:ea typeface="Times Roman"/>
                <a:cs typeface="Times Roman"/>
                <a:sym typeface="Times Roman"/>
              </a:defRPr>
            </a:pPr>
            <a:r>
              <a:t>The attended output is globally pooled and passed through a fully connected layer for classification</a:t>
            </a:r>
          </a:p>
          <a:p>
            <a:pPr marL="0" indent="0" defTabSz="457200">
              <a:spcBef>
                <a:spcPts val="0"/>
              </a:spcBef>
              <a:buSzTx/>
              <a:buNone/>
              <a:defRPr b="1" sz="4200">
                <a:latin typeface="+mj-lt"/>
                <a:ea typeface="+mj-ea"/>
                <a:cs typeface="+mj-cs"/>
                <a:sym typeface="Times New Roman"/>
              </a:defRPr>
            </a:pPr>
          </a:p>
          <a:p>
            <a:pPr marL="0" indent="0" defTabSz="457200">
              <a:spcBef>
                <a:spcPts val="0"/>
              </a:spcBef>
              <a:buSzTx/>
              <a:buNone/>
              <a:defRPr b="1" sz="4200">
                <a:latin typeface="+mj-lt"/>
                <a:ea typeface="+mj-ea"/>
                <a:cs typeface="+mj-cs"/>
                <a:sym typeface="Times New Roman"/>
              </a:defRPr>
            </a:pPr>
            <a:r>
              <a:t>Classification Layer</a:t>
            </a:r>
          </a:p>
          <a:p>
            <a:pPr marL="558800" indent="-558800" defTabSz="457200">
              <a:spcBef>
                <a:spcPts val="1200"/>
              </a:spcBef>
              <a:defRPr sz="4200">
                <a:latin typeface="Times Roman"/>
                <a:ea typeface="Times Roman"/>
                <a:cs typeface="Times Roman"/>
                <a:sym typeface="Times Roman"/>
              </a:defRPr>
            </a:pPr>
            <a:r>
              <a:t>This layer is responsible to predict the outcome of the deepfake detection such as whether the video is Real (or) Fake.</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Implementation"/>
          <p:cNvSpPr txBox="1"/>
          <p:nvPr>
            <p:ph type="title"/>
          </p:nvPr>
        </p:nvSpPr>
        <p:spPr>
          <a:prstGeom prst="rect">
            <a:avLst/>
          </a:prstGeom>
        </p:spPr>
        <p:txBody>
          <a:bodyPr/>
          <a:lstStyle/>
          <a:p>
            <a:pPr/>
            <a:r>
              <a:t>Implementation</a:t>
            </a:r>
          </a:p>
        </p:txBody>
      </p:sp>
      <p:sp>
        <p:nvSpPr>
          <p:cNvPr id="188" name="Training Configuration…"/>
          <p:cNvSpPr txBox="1"/>
          <p:nvPr>
            <p:ph type="body" idx="4294967295"/>
          </p:nvPr>
        </p:nvSpPr>
        <p:spPr>
          <a:prstGeom prst="rect">
            <a:avLst/>
          </a:prstGeom>
        </p:spPr>
        <p:txBody>
          <a:bodyPr anchor="t"/>
          <a:lstStyle/>
          <a:p>
            <a:pPr marL="0" indent="0" defTabSz="374904">
              <a:spcBef>
                <a:spcPts val="0"/>
              </a:spcBef>
              <a:buSzTx/>
              <a:buNone/>
              <a:defRPr b="1" sz="3443">
                <a:latin typeface="+mj-lt"/>
                <a:ea typeface="+mj-ea"/>
                <a:cs typeface="+mj-cs"/>
                <a:sym typeface="Times New Roman"/>
              </a:defRPr>
            </a:pPr>
            <a:r>
              <a:t>Training Configuration</a:t>
            </a:r>
          </a:p>
          <a:p>
            <a:pPr marL="458216" indent="-458216" defTabSz="374904">
              <a:spcBef>
                <a:spcPts val="900"/>
              </a:spcBef>
              <a:defRPr sz="3443">
                <a:latin typeface="+mj-lt"/>
                <a:ea typeface="+mj-ea"/>
                <a:cs typeface="+mj-cs"/>
                <a:sym typeface="Times New Roman"/>
              </a:defRPr>
            </a:pPr>
            <a:r>
              <a:t>Training is performed using:</a:t>
            </a:r>
          </a:p>
          <a:p>
            <a:pPr lvl="1" marL="976312" indent="-455612" defTabSz="374904">
              <a:spcBef>
                <a:spcPts val="900"/>
              </a:spcBef>
              <a:buSzPct val="50000"/>
              <a:buBlip>
                <a:blip r:embed="rId2"/>
              </a:buBlip>
              <a:defRPr sz="3443">
                <a:latin typeface="+mj-lt"/>
                <a:ea typeface="+mj-ea"/>
                <a:cs typeface="+mj-cs"/>
                <a:sym typeface="Times New Roman"/>
              </a:defRPr>
            </a:pPr>
            <a:r>
              <a:t>Optimizer: AdamW</a:t>
            </a:r>
          </a:p>
          <a:p>
            <a:pPr lvl="1" marL="976312" indent="-455612" defTabSz="374904">
              <a:spcBef>
                <a:spcPts val="900"/>
              </a:spcBef>
              <a:buSzPct val="50000"/>
              <a:buBlip>
                <a:blip r:embed="rId2"/>
              </a:buBlip>
              <a:defRPr sz="3443">
                <a:latin typeface="+mj-lt"/>
                <a:ea typeface="+mj-ea"/>
                <a:cs typeface="+mj-cs"/>
                <a:sym typeface="Times New Roman"/>
              </a:defRPr>
            </a:pPr>
            <a:r>
              <a:t>Loss Function: Binary Cross Entropy</a:t>
            </a:r>
          </a:p>
          <a:p>
            <a:pPr lvl="1" marL="976312" indent="-455612" defTabSz="374904">
              <a:spcBef>
                <a:spcPts val="900"/>
              </a:spcBef>
              <a:buSzPct val="50000"/>
              <a:buBlip>
                <a:blip r:embed="rId2"/>
              </a:buBlip>
              <a:defRPr sz="3443">
                <a:latin typeface="+mj-lt"/>
                <a:ea typeface="+mj-ea"/>
                <a:cs typeface="+mj-cs"/>
                <a:sym typeface="Times New Roman"/>
              </a:defRPr>
            </a:pPr>
            <a:r>
              <a:t>Learning Rate: 1 × 10⁻⁴</a:t>
            </a:r>
          </a:p>
          <a:p>
            <a:pPr lvl="1" marL="976312" indent="-455612" defTabSz="374904">
              <a:spcBef>
                <a:spcPts val="900"/>
              </a:spcBef>
              <a:buSzPct val="50000"/>
              <a:buBlip>
                <a:blip r:embed="rId2"/>
              </a:buBlip>
              <a:defRPr sz="3443">
                <a:latin typeface="+mj-lt"/>
                <a:ea typeface="+mj-ea"/>
                <a:cs typeface="+mj-cs"/>
                <a:sym typeface="Times New Roman"/>
              </a:defRPr>
            </a:pPr>
            <a:r>
              <a:t>Weight Decay: 1 × 10⁻²</a:t>
            </a:r>
          </a:p>
          <a:p>
            <a:pPr lvl="1" marL="976312" indent="-455612" defTabSz="374904">
              <a:spcBef>
                <a:spcPts val="900"/>
              </a:spcBef>
              <a:buSzPct val="50000"/>
              <a:buBlip>
                <a:blip r:embed="rId2"/>
              </a:buBlip>
              <a:defRPr sz="3443">
                <a:latin typeface="+mj-lt"/>
                <a:ea typeface="+mj-ea"/>
                <a:cs typeface="+mj-cs"/>
                <a:sym typeface="Times New Roman"/>
              </a:defRPr>
            </a:pPr>
            <a:r>
              <a:t>Batch Size: 32</a:t>
            </a:r>
          </a:p>
          <a:p>
            <a:pPr lvl="1" marL="976312" indent="-455612" defTabSz="374904">
              <a:spcBef>
                <a:spcPts val="900"/>
              </a:spcBef>
              <a:buSzPct val="50000"/>
              <a:buBlip>
                <a:blip r:embed="rId2"/>
              </a:buBlip>
              <a:defRPr sz="3443">
                <a:latin typeface="+mj-lt"/>
                <a:ea typeface="+mj-ea"/>
                <a:cs typeface="+mj-cs"/>
                <a:sym typeface="Times New Roman"/>
              </a:defRPr>
            </a:pPr>
            <a:r>
              <a:t>Epochs: 50</a:t>
            </a:r>
          </a:p>
          <a:p>
            <a:pPr marL="458216" indent="-458216" defTabSz="374904">
              <a:spcBef>
                <a:spcPts val="900"/>
              </a:spcBef>
              <a:defRPr sz="3443">
                <a:latin typeface="+mj-lt"/>
                <a:ea typeface="+mj-ea"/>
                <a:cs typeface="+mj-cs"/>
                <a:sym typeface="Times New Roman"/>
              </a:defRPr>
            </a:pPr>
            <a:r>
              <a:t>To address dataset imbalance:</a:t>
            </a:r>
          </a:p>
          <a:p>
            <a:pPr lvl="1" marL="976312" indent="-455612" defTabSz="374904">
              <a:spcBef>
                <a:spcPts val="900"/>
              </a:spcBef>
              <a:buSzPct val="50000"/>
              <a:buBlip>
                <a:blip r:embed="rId2"/>
              </a:buBlip>
              <a:defRPr sz="3443">
                <a:latin typeface="+mj-lt"/>
                <a:ea typeface="+mj-ea"/>
                <a:cs typeface="+mj-cs"/>
                <a:sym typeface="Times New Roman"/>
              </a:defRPr>
            </a:pPr>
            <a:r>
              <a:t>Class weighting is applied</a:t>
            </a:r>
          </a:p>
          <a:p>
            <a:pPr marL="458216" indent="-458216" defTabSz="374904">
              <a:spcBef>
                <a:spcPts val="900"/>
              </a:spcBef>
              <a:defRPr sz="3443">
                <a:latin typeface="+mj-lt"/>
                <a:ea typeface="+mj-ea"/>
                <a:cs typeface="+mj-cs"/>
                <a:sym typeface="Times New Roman"/>
              </a:defRPr>
            </a:pPr>
            <a:r>
              <a:t>To select the optimal operating point:</a:t>
            </a:r>
          </a:p>
          <a:p>
            <a:pPr lvl="1" marL="976312" indent="-455612" defTabSz="374904">
              <a:spcBef>
                <a:spcPts val="900"/>
              </a:spcBef>
              <a:buSzPct val="50000"/>
              <a:buBlip>
                <a:blip r:embed="rId2"/>
              </a:buBlip>
              <a:defRPr sz="3443">
                <a:latin typeface="+mj-lt"/>
                <a:ea typeface="+mj-ea"/>
                <a:cs typeface="+mj-cs"/>
                <a:sym typeface="Times New Roman"/>
              </a:defRPr>
            </a:pPr>
            <a:r>
              <a:t>Validation F1-score is computed across thresholds</a:t>
            </a:r>
          </a:p>
          <a:p>
            <a:pPr lvl="1" marL="976312" indent="-455612" defTabSz="374904">
              <a:spcBef>
                <a:spcPts val="900"/>
              </a:spcBef>
              <a:buSzPct val="50000"/>
              <a:buBlip>
                <a:blip r:embed="rId2"/>
              </a:buBlip>
              <a:defRPr sz="3443">
                <a:latin typeface="+mj-lt"/>
                <a:ea typeface="+mj-ea"/>
                <a:cs typeface="+mj-cs"/>
                <a:sym typeface="Times New Roman"/>
              </a:defRPr>
            </a:pPr>
            <a:r>
              <a:t>Optimal threshold = 0.05</a:t>
            </a:r>
          </a:p>
          <a:p>
            <a:pPr lvl="1" marL="976312" indent="-455612" defTabSz="374904">
              <a:spcBef>
                <a:spcPts val="900"/>
              </a:spcBef>
              <a:buSzPct val="50000"/>
              <a:buBlip>
                <a:blip r:embed="rId2"/>
              </a:buBlip>
              <a:defRPr sz="3443">
                <a:latin typeface="+mj-lt"/>
                <a:ea typeface="+mj-ea"/>
                <a:cs typeface="+mj-cs"/>
                <a:sym typeface="Times New Roman"/>
              </a:defRPr>
            </a:pPr>
            <a:r>
              <a:t>Same threshold applied to test set</a:t>
            </a:r>
          </a:p>
          <a:p>
            <a:pPr marL="458216" indent="-458216" defTabSz="374904">
              <a:spcBef>
                <a:spcPts val="900"/>
              </a:spcBef>
              <a:defRPr sz="3443">
                <a:latin typeface="+mj-lt"/>
                <a:ea typeface="+mj-ea"/>
                <a:cs typeface="+mj-cs"/>
                <a:sym typeface="Times New Roman"/>
              </a:defRPr>
            </a:pPr>
            <a:r>
              <a:t>Early stopping is incorporated to prevent overfitting.</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Quantitative Results"/>
          <p:cNvSpPr txBox="1"/>
          <p:nvPr>
            <p:ph type="title"/>
          </p:nvPr>
        </p:nvSpPr>
        <p:spPr>
          <a:prstGeom prst="rect">
            <a:avLst/>
          </a:prstGeom>
        </p:spPr>
        <p:txBody>
          <a:bodyPr/>
          <a:lstStyle/>
          <a:p>
            <a:pPr/>
            <a:r>
              <a:t>Quantitative Results</a:t>
            </a:r>
          </a:p>
        </p:txBody>
      </p:sp>
      <p:sp>
        <p:nvSpPr>
          <p:cNvPr id="191" name="The proposed phoneme–viseme based framework achieves:…"/>
          <p:cNvSpPr txBox="1"/>
          <p:nvPr>
            <p:ph type="body" idx="4294967295"/>
          </p:nvPr>
        </p:nvSpPr>
        <p:spPr>
          <a:xfrm>
            <a:off x="1689100" y="2209800"/>
            <a:ext cx="21005800" cy="9296400"/>
          </a:xfrm>
          <a:prstGeom prst="rect">
            <a:avLst/>
          </a:prstGeom>
        </p:spPr>
        <p:txBody>
          <a:bodyPr anchor="t"/>
          <a:lstStyle/>
          <a:p>
            <a:pPr marL="558800" indent="-558800" defTabSz="457200">
              <a:spcBef>
                <a:spcPts val="1200"/>
              </a:spcBef>
              <a:defRPr sz="4200">
                <a:latin typeface="+mj-lt"/>
                <a:ea typeface="+mj-ea"/>
                <a:cs typeface="+mj-cs"/>
                <a:sym typeface="Times New Roman"/>
              </a:defRPr>
            </a:pPr>
            <a:r>
              <a:t>The proposed phoneme–viseme based framework achieves:</a:t>
            </a:r>
          </a:p>
          <a:p>
            <a:pPr lvl="1" marL="1190625" indent="-555625" defTabSz="457200">
              <a:spcBef>
                <a:spcPts val="1200"/>
              </a:spcBef>
              <a:buSzPct val="50000"/>
              <a:buBlip>
                <a:blip r:embed="rId2"/>
              </a:buBlip>
              <a:defRPr b="1" sz="4200">
                <a:latin typeface="+mj-lt"/>
                <a:ea typeface="+mj-ea"/>
                <a:cs typeface="+mj-cs"/>
                <a:sym typeface="Times New Roman"/>
              </a:defRPr>
            </a:pPr>
            <a:r>
              <a:t>Accuracy:</a:t>
            </a:r>
            <a:r>
              <a:rPr b="0"/>
              <a:t> 97.66%</a:t>
            </a:r>
            <a:endParaRPr b="0"/>
          </a:p>
          <a:p>
            <a:pPr lvl="1" marL="1190625" indent="-555625" defTabSz="457200">
              <a:spcBef>
                <a:spcPts val="1200"/>
              </a:spcBef>
              <a:buSzPct val="50000"/>
              <a:buBlip>
                <a:blip r:embed="rId2"/>
              </a:buBlip>
              <a:defRPr b="1" sz="4200">
                <a:latin typeface="+mj-lt"/>
                <a:ea typeface="+mj-ea"/>
                <a:cs typeface="+mj-cs"/>
                <a:sym typeface="Times New Roman"/>
              </a:defRPr>
            </a:pPr>
            <a:r>
              <a:t>F1-Score:</a:t>
            </a:r>
            <a:r>
              <a:rPr b="0"/>
              <a:t> 0.988</a:t>
            </a:r>
            <a:endParaRPr b="0"/>
          </a:p>
          <a:p>
            <a:pPr lvl="1" marL="1190625" indent="-555625" defTabSz="457200">
              <a:spcBef>
                <a:spcPts val="1200"/>
              </a:spcBef>
              <a:buSzPct val="50000"/>
              <a:buBlip>
                <a:blip r:embed="rId2"/>
              </a:buBlip>
              <a:defRPr b="1" sz="4200">
                <a:latin typeface="+mj-lt"/>
                <a:ea typeface="+mj-ea"/>
                <a:cs typeface="+mj-cs"/>
                <a:sym typeface="Times New Roman"/>
              </a:defRPr>
            </a:pPr>
            <a:r>
              <a:t>ROC-AUC:</a:t>
            </a:r>
            <a:r>
              <a:rPr b="0"/>
              <a:t> 0.80</a:t>
            </a:r>
            <a:endParaRPr b="0"/>
          </a:p>
          <a:p>
            <a:pPr marL="558800" indent="-558800" defTabSz="457200">
              <a:spcBef>
                <a:spcPts val="1200"/>
              </a:spcBef>
              <a:defRPr sz="4200">
                <a:latin typeface="+mj-lt"/>
                <a:ea typeface="+mj-ea"/>
                <a:cs typeface="+mj-cs"/>
                <a:sym typeface="Times New Roman"/>
              </a:defRPr>
            </a:pPr>
            <a:r>
              <a:t>The model demonstrates stable performance across validation and test splits, indicating strong generalization under subject-independent evaluation.</a:t>
            </a:r>
          </a:p>
          <a:p>
            <a:pPr marL="0" indent="0" defTabSz="457200">
              <a:spcBef>
                <a:spcPts val="0"/>
              </a:spcBef>
              <a:buSzTx/>
              <a:buNone/>
              <a:defRPr b="1" sz="4200">
                <a:latin typeface="+mj-lt"/>
                <a:ea typeface="+mj-ea"/>
                <a:cs typeface="+mj-cs"/>
                <a:sym typeface="Times New Roman"/>
              </a:defRPr>
            </a:pPr>
          </a:p>
          <a:p>
            <a:pPr marL="0" indent="0" defTabSz="457200">
              <a:spcBef>
                <a:spcPts val="0"/>
              </a:spcBef>
              <a:buSzTx/>
              <a:buNone/>
              <a:defRPr b="1" sz="4200">
                <a:latin typeface="+mj-lt"/>
                <a:ea typeface="+mj-ea"/>
                <a:cs typeface="+mj-cs"/>
                <a:sym typeface="Times New Roman"/>
              </a:defRPr>
            </a:pPr>
            <a:r>
              <a:t>Comparison with Baselines</a:t>
            </a:r>
          </a:p>
        </p:txBody>
      </p:sp>
      <p:graphicFrame>
        <p:nvGraphicFramePr>
          <p:cNvPr id="192" name="Table 1"/>
          <p:cNvGraphicFramePr/>
          <p:nvPr/>
        </p:nvGraphicFramePr>
        <p:xfrm>
          <a:off x="1905000" y="8509000"/>
          <a:ext cx="6350000" cy="2932163"/>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7606120"/>
                <a:gridCol w="5052240"/>
                <a:gridCol w="3553224"/>
                <a:gridCol w="4108415"/>
              </a:tblGrid>
              <a:tr h="917222">
                <a:tc>
                  <a:txBody>
                    <a:bodyPr/>
                    <a:lstStyle/>
                    <a:p>
                      <a:pPr defTabSz="457200">
                        <a:lnSpc>
                          <a:spcPct val="150000"/>
                        </a:lnSpc>
                        <a:tabLst>
                          <a:tab pos="1955800" algn="l"/>
                        </a:tabLst>
                        <a:defRPr sz="1800"/>
                      </a:pPr>
                      <a:r>
                        <a:rPr b="1" sz="4200">
                          <a:latin typeface="+mj-lt"/>
                          <a:ea typeface="+mj-ea"/>
                          <a:cs typeface="+mj-cs"/>
                          <a:sym typeface="Times New Roman"/>
                        </a:rPr>
                        <a:t>Method</a:t>
                      </a:r>
                    </a:p>
                  </a:txBody>
                  <a:tcPr marL="50800" marR="50800" marT="50800" marB="50800" anchor="t" anchorCtr="0" horzOverflow="overflow"/>
                </a:tc>
                <a:tc>
                  <a:txBody>
                    <a:bodyPr/>
                    <a:lstStyle/>
                    <a:p>
                      <a:pPr defTabSz="457200">
                        <a:tabLst>
                          <a:tab pos="1955800" algn="l"/>
                        </a:tabLst>
                        <a:defRPr sz="1800"/>
                      </a:pPr>
                      <a:r>
                        <a:rPr b="1" sz="4200">
                          <a:latin typeface="+mj-lt"/>
                          <a:ea typeface="+mj-ea"/>
                          <a:cs typeface="+mj-cs"/>
                          <a:sym typeface="Times New Roman"/>
                        </a:rPr>
                        <a:t>Accuracy (%)</a:t>
                      </a:r>
                    </a:p>
                  </a:txBody>
                  <a:tcPr marL="50800" marR="50800" marT="50800" marB="50800" anchor="t" anchorCtr="0" horzOverflow="overflow"/>
                </a:tc>
                <a:tc>
                  <a:txBody>
                    <a:bodyPr/>
                    <a:lstStyle/>
                    <a:p>
                      <a:pPr defTabSz="457200">
                        <a:tabLst>
                          <a:tab pos="1955800" algn="l"/>
                        </a:tabLst>
                        <a:defRPr sz="1800"/>
                      </a:pPr>
                      <a:r>
                        <a:rPr b="1" sz="4200">
                          <a:latin typeface="+mj-lt"/>
                          <a:ea typeface="+mj-ea"/>
                          <a:cs typeface="+mj-cs"/>
                          <a:sym typeface="Times New Roman"/>
                        </a:rPr>
                        <a:t>F1​-Score</a:t>
                      </a:r>
                    </a:p>
                  </a:txBody>
                  <a:tcPr marL="50800" marR="50800" marT="50800" marB="50800" anchor="t" anchorCtr="0" horzOverflow="overflow"/>
                </a:tc>
                <a:tc>
                  <a:txBody>
                    <a:bodyPr/>
                    <a:lstStyle/>
                    <a:p>
                      <a:pPr defTabSz="457200">
                        <a:tabLst>
                          <a:tab pos="1955800" algn="l"/>
                        </a:tabLst>
                        <a:defRPr sz="1800"/>
                      </a:pPr>
                      <a:r>
                        <a:rPr b="1" sz="4200">
                          <a:latin typeface="+mj-lt"/>
                          <a:ea typeface="+mj-ea"/>
                          <a:cs typeface="+mj-cs"/>
                          <a:sym typeface="Times New Roman"/>
                        </a:rPr>
                        <a:t>ROC- AUC</a:t>
                      </a:r>
                    </a:p>
                  </a:txBody>
                  <a:tcPr marL="50800" marR="50800" marT="50800" marB="50800" anchor="t" anchorCtr="0" horzOverflow="overflow"/>
                </a:tc>
              </a:tr>
              <a:tr h="846666">
                <a:tc>
                  <a:txBody>
                    <a:bodyPr/>
                    <a:lstStyle/>
                    <a:p>
                      <a:pPr defTabSz="457200">
                        <a:tabLst>
                          <a:tab pos="1955800" algn="l"/>
                        </a:tabLst>
                        <a:defRPr sz="1800"/>
                      </a:pPr>
                      <a:r>
                        <a:rPr sz="4200">
                          <a:latin typeface="+mj-lt"/>
                          <a:ea typeface="+mj-ea"/>
                          <a:cs typeface="+mj-cs"/>
                          <a:sym typeface="Times New Roman"/>
                        </a:rPr>
                        <a:t>Audio only</a:t>
                      </a:r>
                    </a:p>
                  </a:txBody>
                  <a:tcPr marL="50800" marR="50800" marT="50800" marB="50800" anchor="t" anchorCtr="0" horzOverflow="overflow"/>
                </a:tc>
                <a:tc>
                  <a:txBody>
                    <a:bodyPr/>
                    <a:lstStyle/>
                    <a:p>
                      <a:pPr defTabSz="457200">
                        <a:tabLst>
                          <a:tab pos="1955800" algn="l"/>
                        </a:tabLst>
                        <a:defRPr sz="1800"/>
                      </a:pPr>
                      <a:r>
                        <a:rPr sz="4200">
                          <a:latin typeface="+mj-lt"/>
                          <a:ea typeface="+mj-ea"/>
                          <a:cs typeface="+mj-cs"/>
                          <a:sym typeface="Times New Roman"/>
                        </a:rPr>
                        <a:t>90.4</a:t>
                      </a:r>
                    </a:p>
                  </a:txBody>
                  <a:tcPr marL="50800" marR="50800" marT="50800" marB="50800" anchor="t" anchorCtr="0" horzOverflow="overflow"/>
                </a:tc>
                <a:tc>
                  <a:txBody>
                    <a:bodyPr/>
                    <a:lstStyle/>
                    <a:p>
                      <a:pPr defTabSz="457200">
                        <a:tabLst>
                          <a:tab pos="1955800" algn="l"/>
                        </a:tabLst>
                        <a:defRPr sz="1800"/>
                      </a:pPr>
                      <a:r>
                        <a:rPr sz="4200">
                          <a:latin typeface="+mj-lt"/>
                          <a:ea typeface="+mj-ea"/>
                          <a:cs typeface="+mj-cs"/>
                          <a:sym typeface="Times New Roman"/>
                        </a:rPr>
                        <a:t>0.904</a:t>
                      </a:r>
                    </a:p>
                  </a:txBody>
                  <a:tcPr marL="50800" marR="50800" marT="50800" marB="50800" anchor="t" anchorCtr="0" horzOverflow="overflow"/>
                </a:tc>
                <a:tc>
                  <a:txBody>
                    <a:bodyPr/>
                    <a:lstStyle/>
                    <a:p>
                      <a:pPr defTabSz="457200">
                        <a:tabLst>
                          <a:tab pos="1955800" algn="l"/>
                        </a:tabLst>
                        <a:defRPr sz="1800"/>
                      </a:pPr>
                      <a:r>
                        <a:rPr sz="4200">
                          <a:latin typeface="+mj-lt"/>
                          <a:ea typeface="+mj-ea"/>
                          <a:cs typeface="+mj-cs"/>
                          <a:sym typeface="Times New Roman"/>
                        </a:rPr>
                        <a:t>0.74</a:t>
                      </a:r>
                    </a:p>
                  </a:txBody>
                  <a:tcPr marL="50800" marR="50800" marT="50800" marB="50800" anchor="t" anchorCtr="0" horzOverflow="overflow"/>
                </a:tc>
              </a:tr>
              <a:tr h="917222">
                <a:tc>
                  <a:txBody>
                    <a:bodyPr/>
                    <a:lstStyle/>
                    <a:p>
                      <a:pPr defTabSz="457200">
                        <a:tabLst>
                          <a:tab pos="1955800" algn="l"/>
                        </a:tabLst>
                        <a:defRPr sz="1800"/>
                      </a:pPr>
                      <a:r>
                        <a:rPr sz="4200">
                          <a:latin typeface="+mj-lt"/>
                          <a:ea typeface="+mj-ea"/>
                          <a:cs typeface="+mj-cs"/>
                          <a:sym typeface="Times New Roman"/>
                        </a:rPr>
                        <a:t>Visual only</a:t>
                      </a:r>
                    </a:p>
                  </a:txBody>
                  <a:tcPr marL="50800" marR="50800" marT="50800" marB="50800" anchor="t" anchorCtr="0" horzOverflow="overflow"/>
                </a:tc>
                <a:tc>
                  <a:txBody>
                    <a:bodyPr/>
                    <a:lstStyle/>
                    <a:p>
                      <a:pPr defTabSz="457200">
                        <a:tabLst>
                          <a:tab pos="1955800" algn="l"/>
                        </a:tabLst>
                        <a:defRPr sz="1800"/>
                      </a:pPr>
                      <a:r>
                        <a:rPr sz="4200">
                          <a:latin typeface="+mj-lt"/>
                          <a:ea typeface="+mj-ea"/>
                          <a:cs typeface="+mj-cs"/>
                          <a:sym typeface="Times New Roman"/>
                        </a:rPr>
                        <a:t>91.2</a:t>
                      </a:r>
                    </a:p>
                  </a:txBody>
                  <a:tcPr marL="50800" marR="50800" marT="50800" marB="50800" anchor="t" anchorCtr="0" horzOverflow="overflow"/>
                </a:tc>
                <a:tc>
                  <a:txBody>
                    <a:bodyPr/>
                    <a:lstStyle/>
                    <a:p>
                      <a:pPr defTabSz="457200">
                        <a:tabLst>
                          <a:tab pos="1955800" algn="l"/>
                        </a:tabLst>
                        <a:defRPr sz="1800"/>
                      </a:pPr>
                      <a:r>
                        <a:rPr sz="4200">
                          <a:latin typeface="+mj-lt"/>
                          <a:ea typeface="+mj-ea"/>
                          <a:cs typeface="+mj-cs"/>
                          <a:sym typeface="Times New Roman"/>
                        </a:rPr>
                        <a:t>0.913</a:t>
                      </a:r>
                    </a:p>
                  </a:txBody>
                  <a:tcPr marL="50800" marR="50800" marT="50800" marB="50800" anchor="t" anchorCtr="0" horzOverflow="overflow"/>
                </a:tc>
                <a:tc>
                  <a:txBody>
                    <a:bodyPr/>
                    <a:lstStyle/>
                    <a:p>
                      <a:pPr defTabSz="457200">
                        <a:tabLst>
                          <a:tab pos="1955800" algn="l"/>
                        </a:tabLst>
                        <a:defRPr sz="1800"/>
                      </a:pPr>
                      <a:r>
                        <a:rPr sz="4200">
                          <a:latin typeface="+mj-lt"/>
                          <a:ea typeface="+mj-ea"/>
                          <a:cs typeface="+mj-cs"/>
                          <a:sym typeface="Times New Roman"/>
                        </a:rPr>
                        <a:t>0.76</a:t>
                      </a:r>
                    </a:p>
                  </a:txBody>
                  <a:tcPr marL="50800" marR="50800" marT="50800" marB="50800" anchor="t" anchorCtr="0" horzOverflow="overflow"/>
                </a:tc>
              </a:tr>
              <a:tr h="846666">
                <a:tc>
                  <a:txBody>
                    <a:bodyPr/>
                    <a:lstStyle/>
                    <a:p>
                      <a:pPr defTabSz="457200">
                        <a:tabLst>
                          <a:tab pos="1955800" algn="l"/>
                        </a:tabLst>
                        <a:defRPr sz="1800"/>
                      </a:pPr>
                      <a:r>
                        <a:rPr sz="4200">
                          <a:latin typeface="+mj-lt"/>
                          <a:ea typeface="+mj-ea"/>
                          <a:cs typeface="+mj-cs"/>
                          <a:sym typeface="Times New Roman"/>
                        </a:rPr>
                        <a:t>Late Fusion (Baseline)</a:t>
                      </a:r>
                    </a:p>
                  </a:txBody>
                  <a:tcPr marL="50800" marR="50800" marT="50800" marB="50800" anchor="t" anchorCtr="0" horzOverflow="overflow"/>
                </a:tc>
                <a:tc>
                  <a:txBody>
                    <a:bodyPr/>
                    <a:lstStyle/>
                    <a:p>
                      <a:pPr defTabSz="457200">
                        <a:tabLst>
                          <a:tab pos="1955800" algn="l"/>
                        </a:tabLst>
                        <a:defRPr sz="1800"/>
                      </a:pPr>
                      <a:r>
                        <a:rPr sz="4200">
                          <a:latin typeface="+mj-lt"/>
                          <a:ea typeface="+mj-ea"/>
                          <a:cs typeface="+mj-cs"/>
                          <a:sym typeface="Times New Roman"/>
                        </a:rPr>
                        <a:t>92.9</a:t>
                      </a:r>
                    </a:p>
                  </a:txBody>
                  <a:tcPr marL="50800" marR="50800" marT="50800" marB="50800" anchor="t" anchorCtr="0" horzOverflow="overflow"/>
                </a:tc>
                <a:tc>
                  <a:txBody>
                    <a:bodyPr/>
                    <a:lstStyle/>
                    <a:p>
                      <a:pPr defTabSz="457200">
                        <a:tabLst>
                          <a:tab pos="1955800" algn="l"/>
                        </a:tabLst>
                        <a:defRPr sz="1800"/>
                      </a:pPr>
                      <a:r>
                        <a:rPr sz="4200">
                          <a:latin typeface="+mj-lt"/>
                          <a:ea typeface="+mj-ea"/>
                          <a:cs typeface="+mj-cs"/>
                          <a:sym typeface="Times New Roman"/>
                        </a:rPr>
                        <a:t>0.928</a:t>
                      </a:r>
                    </a:p>
                  </a:txBody>
                  <a:tcPr marL="50800" marR="50800" marT="50800" marB="50800" anchor="t" anchorCtr="0" horzOverflow="overflow"/>
                </a:tc>
                <a:tc>
                  <a:txBody>
                    <a:bodyPr/>
                    <a:lstStyle/>
                    <a:p>
                      <a:pPr defTabSz="457200">
                        <a:tabLst>
                          <a:tab pos="1955800" algn="l"/>
                        </a:tabLst>
                        <a:defRPr sz="1800"/>
                      </a:pPr>
                      <a:r>
                        <a:rPr sz="4200">
                          <a:latin typeface="+mj-lt"/>
                          <a:ea typeface="+mj-ea"/>
                          <a:cs typeface="+mj-cs"/>
                          <a:sym typeface="Times New Roman"/>
                        </a:rPr>
                        <a:t>0.78</a:t>
                      </a:r>
                    </a:p>
                  </a:txBody>
                  <a:tcPr marL="50800" marR="50800" marT="50800" marB="50800" anchor="t" anchorCtr="0" horzOverflow="overflow"/>
                </a:tc>
              </a:tr>
              <a:tr h="917222">
                <a:tc>
                  <a:txBody>
                    <a:bodyPr/>
                    <a:lstStyle/>
                    <a:p>
                      <a:pPr defTabSz="457200">
                        <a:tabLst>
                          <a:tab pos="1955800" algn="l"/>
                        </a:tabLst>
                        <a:defRPr sz="1800"/>
                      </a:pPr>
                      <a:r>
                        <a:rPr b="1" sz="4200">
                          <a:latin typeface="+mj-lt"/>
                          <a:ea typeface="+mj-ea"/>
                          <a:cs typeface="+mj-cs"/>
                          <a:sym typeface="Times New Roman"/>
                        </a:rPr>
                        <a:t>Our Proposed model</a:t>
                      </a:r>
                    </a:p>
                  </a:txBody>
                  <a:tcPr marL="50800" marR="50800" marT="50800" marB="50800" anchor="t" anchorCtr="0" horzOverflow="overflow"/>
                </a:tc>
                <a:tc>
                  <a:txBody>
                    <a:bodyPr/>
                    <a:lstStyle/>
                    <a:p>
                      <a:pPr defTabSz="457200">
                        <a:tabLst>
                          <a:tab pos="1955800" algn="l"/>
                        </a:tabLst>
                        <a:defRPr sz="1800"/>
                      </a:pPr>
                      <a:r>
                        <a:rPr b="1" sz="4200">
                          <a:latin typeface="+mj-lt"/>
                          <a:ea typeface="+mj-ea"/>
                          <a:cs typeface="+mj-cs"/>
                          <a:sym typeface="Times New Roman"/>
                        </a:rPr>
                        <a:t>97.66</a:t>
                      </a:r>
                    </a:p>
                  </a:txBody>
                  <a:tcPr marL="50800" marR="50800" marT="50800" marB="50800" anchor="t" anchorCtr="0" horzOverflow="overflow"/>
                </a:tc>
                <a:tc>
                  <a:txBody>
                    <a:bodyPr/>
                    <a:lstStyle/>
                    <a:p>
                      <a:pPr defTabSz="457200">
                        <a:tabLst>
                          <a:tab pos="1955800" algn="l"/>
                        </a:tabLst>
                        <a:defRPr sz="1800"/>
                      </a:pPr>
                      <a:r>
                        <a:rPr b="1" sz="4200">
                          <a:latin typeface="+mj-lt"/>
                          <a:ea typeface="+mj-ea"/>
                          <a:cs typeface="+mj-cs"/>
                          <a:sym typeface="Times New Roman"/>
                        </a:rPr>
                        <a:t>0.988</a:t>
                      </a:r>
                    </a:p>
                  </a:txBody>
                  <a:tcPr marL="50800" marR="50800" marT="50800" marB="50800" anchor="t" anchorCtr="0" horzOverflow="overflow"/>
                </a:tc>
                <a:tc>
                  <a:txBody>
                    <a:bodyPr/>
                    <a:lstStyle/>
                    <a:p>
                      <a:pPr defTabSz="457200">
                        <a:tabLst>
                          <a:tab pos="1955800" algn="l"/>
                        </a:tabLst>
                        <a:defRPr sz="1800"/>
                      </a:pPr>
                      <a:r>
                        <a:rPr b="1" sz="4200">
                          <a:latin typeface="+mj-lt"/>
                          <a:ea typeface="+mj-ea"/>
                          <a:cs typeface="+mj-cs"/>
                          <a:sym typeface="Times New Roman"/>
                        </a:rPr>
                        <a:t>0.8</a:t>
                      </a:r>
                    </a:p>
                  </a:txBody>
                  <a:tcPr marL="50800" marR="50800" marT="50800" marB="50800" anchor="t" anchorCtr="0" horzOverflow="overflow"/>
                </a:tc>
              </a:tr>
            </a:tbl>
          </a:graphicData>
        </a:graphic>
      </p:graphicFrame>
      <p:sp>
        <p:nvSpPr>
          <p:cNvPr id="193" name="Text"/>
          <p:cNvSpPr txBox="1"/>
          <p:nvPr/>
        </p:nvSpPr>
        <p:spPr>
          <a:xfrm>
            <a:off x="9994900" y="6419850"/>
            <a:ext cx="127000" cy="6350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12700">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Helvetica"/>
                <a:ea typeface="Helvetica"/>
                <a:cs typeface="Helvetica"/>
                <a:sym typeface="Helvetica"/>
              </a:defRPr>
            </a:pPr>
          </a:p>
          <a:p>
            <a:pPr defTabSz="12700">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Helvetica"/>
                <a:ea typeface="Helvetica"/>
                <a:cs typeface="Helvetica"/>
                <a:sym typeface="Helvetica"/>
              </a:defRPr>
            </a:pP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Quantitative Results"/>
          <p:cNvSpPr txBox="1"/>
          <p:nvPr>
            <p:ph type="title"/>
          </p:nvPr>
        </p:nvSpPr>
        <p:spPr>
          <a:prstGeom prst="rect">
            <a:avLst/>
          </a:prstGeom>
        </p:spPr>
        <p:txBody>
          <a:bodyPr/>
          <a:lstStyle/>
          <a:p>
            <a:pPr/>
            <a:r>
              <a:t>Quantitative Results</a:t>
            </a:r>
          </a:p>
        </p:txBody>
      </p:sp>
      <p:sp>
        <p:nvSpPr>
          <p:cNvPr id="196" name="ROC Curve and Confusion Matrix…"/>
          <p:cNvSpPr txBox="1"/>
          <p:nvPr>
            <p:ph type="body" idx="4294967295"/>
          </p:nvPr>
        </p:nvSpPr>
        <p:spPr>
          <a:xfrm>
            <a:off x="1689100" y="2650579"/>
            <a:ext cx="21158796" cy="9795421"/>
          </a:xfrm>
          <a:prstGeom prst="rect">
            <a:avLst/>
          </a:prstGeom>
        </p:spPr>
        <p:txBody>
          <a:bodyPr anchor="t"/>
          <a:lstStyle/>
          <a:p>
            <a:pPr marL="0" indent="0" defTabSz="457200">
              <a:spcBef>
                <a:spcPts val="0"/>
              </a:spcBef>
              <a:buSzTx/>
              <a:buNone/>
              <a:defRPr b="1" sz="4200">
                <a:latin typeface="+mj-lt"/>
                <a:ea typeface="+mj-ea"/>
                <a:cs typeface="+mj-cs"/>
                <a:sym typeface="Times New Roman"/>
              </a:defRPr>
            </a:pPr>
            <a:r>
              <a:t>ROC Curve and Confusion Matrix</a:t>
            </a:r>
          </a:p>
          <a:p>
            <a:pPr marL="558800" indent="-558800" defTabSz="457200">
              <a:spcBef>
                <a:spcPts val="1200"/>
              </a:spcBef>
              <a:defRPr sz="4200">
                <a:latin typeface="+mj-lt"/>
                <a:ea typeface="+mj-ea"/>
                <a:cs typeface="+mj-cs"/>
                <a:sym typeface="Times New Roman"/>
              </a:defRPr>
            </a:pPr>
            <a:r>
              <a:t>The confusion matrix shows the relation of Low false positives and Low false negatives</a:t>
            </a:r>
          </a:p>
          <a:p>
            <a:pPr marL="558800" indent="-558800" defTabSz="457200">
              <a:spcBef>
                <a:spcPts val="1200"/>
              </a:spcBef>
              <a:defRPr sz="4200">
                <a:latin typeface="+mj-lt"/>
                <a:ea typeface="+mj-ea"/>
                <a:cs typeface="+mj-cs"/>
                <a:sym typeface="Times New Roman"/>
              </a:defRPr>
            </a:pPr>
            <a:r>
              <a:t>The ROC curve confirms consistent discrimination across operating thresholds.</a:t>
            </a:r>
          </a:p>
          <a:p>
            <a:pPr marL="558800" indent="-558800" defTabSz="457200">
              <a:spcBef>
                <a:spcPts val="1200"/>
              </a:spcBef>
              <a:defRPr sz="4200">
                <a:latin typeface="+mj-lt"/>
                <a:ea typeface="+mj-ea"/>
                <a:cs typeface="+mj-cs"/>
                <a:sym typeface="Times New Roman"/>
              </a:defRPr>
            </a:pPr>
            <a:r>
              <a:t>The optimized threshold (0.05) yields the best balance between precision and recall under class imbalance conditions.</a:t>
            </a:r>
          </a:p>
        </p:txBody>
      </p:sp>
      <p:pic>
        <p:nvPicPr>
          <p:cNvPr id="197" name="roc_curve.png" descr="roc_curve.png"/>
          <p:cNvPicPr>
            <a:picLocks noChangeAspect="1"/>
          </p:cNvPicPr>
          <p:nvPr/>
        </p:nvPicPr>
        <p:blipFill>
          <a:blip r:embed="rId2">
            <a:extLst/>
          </a:blip>
          <a:stretch>
            <a:fillRect/>
          </a:stretch>
        </p:blipFill>
        <p:spPr>
          <a:xfrm>
            <a:off x="3530600" y="6110957"/>
            <a:ext cx="8470218" cy="7427243"/>
          </a:xfrm>
          <a:prstGeom prst="rect">
            <a:avLst/>
          </a:prstGeom>
          <a:ln w="12700">
            <a:miter lim="400000"/>
          </a:ln>
        </p:spPr>
      </p:pic>
      <p:pic>
        <p:nvPicPr>
          <p:cNvPr id="198" name="confusion_matrix.png" descr="confusion_matrix.png"/>
          <p:cNvPicPr>
            <a:picLocks noChangeAspect="1"/>
          </p:cNvPicPr>
          <p:nvPr/>
        </p:nvPicPr>
        <p:blipFill>
          <a:blip r:embed="rId3">
            <a:extLst/>
          </a:blip>
          <a:stretch>
            <a:fillRect/>
          </a:stretch>
        </p:blipFill>
        <p:spPr>
          <a:xfrm>
            <a:off x="12576073" y="6084542"/>
            <a:ext cx="8603036" cy="7480073"/>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Conclusion and Future Work"/>
          <p:cNvSpPr txBox="1"/>
          <p:nvPr>
            <p:ph type="title"/>
          </p:nvPr>
        </p:nvSpPr>
        <p:spPr>
          <a:prstGeom prst="rect">
            <a:avLst/>
          </a:prstGeom>
        </p:spPr>
        <p:txBody>
          <a:bodyPr/>
          <a:lstStyle/>
          <a:p>
            <a:pPr/>
            <a:r>
              <a:t>Conclusion and Future Work</a:t>
            </a:r>
          </a:p>
        </p:txBody>
      </p:sp>
      <p:sp>
        <p:nvSpPr>
          <p:cNvPr id="201" name="Conclusion…"/>
          <p:cNvSpPr txBox="1"/>
          <p:nvPr>
            <p:ph type="body" idx="4294967295"/>
          </p:nvPr>
        </p:nvSpPr>
        <p:spPr>
          <a:prstGeom prst="rect">
            <a:avLst/>
          </a:prstGeom>
        </p:spPr>
        <p:txBody>
          <a:bodyPr anchor="t"/>
          <a:lstStyle/>
          <a:p>
            <a:pPr marL="0" indent="0" defTabSz="402336">
              <a:spcBef>
                <a:spcPts val="0"/>
              </a:spcBef>
              <a:buSzTx/>
              <a:buNone/>
              <a:defRPr b="1" sz="3696">
                <a:latin typeface="+mj-lt"/>
                <a:ea typeface="+mj-ea"/>
                <a:cs typeface="+mj-cs"/>
                <a:sym typeface="Times New Roman"/>
              </a:defRPr>
            </a:pPr>
            <a:r>
              <a:t>Conclusion</a:t>
            </a:r>
          </a:p>
          <a:p>
            <a:pPr marL="491744" indent="-491744" defTabSz="402336">
              <a:spcBef>
                <a:spcPts val="0"/>
              </a:spcBef>
              <a:defRPr sz="3696">
                <a:latin typeface="+mj-lt"/>
                <a:ea typeface="+mj-ea"/>
                <a:cs typeface="+mj-cs"/>
                <a:sym typeface="Times New Roman"/>
              </a:defRPr>
            </a:pPr>
            <a:r>
              <a:t>In this research, a deepfake detection framework based on phoneme and viseme is proposed. This framework aims to capture the fine-grained cross-modal inconsistencies between speech and lip movement. </a:t>
            </a:r>
          </a:p>
          <a:p>
            <a:pPr marL="491744" indent="-491744" defTabSz="402336">
              <a:spcBef>
                <a:spcPts val="0"/>
              </a:spcBef>
              <a:defRPr sz="3696">
                <a:latin typeface="+mj-lt"/>
                <a:ea typeface="+mj-ea"/>
                <a:cs typeface="+mj-cs"/>
                <a:sym typeface="Times New Roman"/>
              </a:defRPr>
            </a:pPr>
            <a:r>
              <a:t>The model uses a cross-modal attention mechanism to integrate phoneme-aware audio embeddings and viseme-oriented visual features, which allows the model to capture inconsistencies in speech and lip movement that cannot be identified using traditional models. </a:t>
            </a:r>
          </a:p>
          <a:p>
            <a:pPr marL="491744" indent="-491744" defTabSz="402336">
              <a:spcBef>
                <a:spcPts val="0"/>
              </a:spcBef>
              <a:defRPr sz="3696">
                <a:latin typeface="+mj-lt"/>
                <a:ea typeface="+mj-ea"/>
                <a:cs typeface="+mj-cs"/>
                <a:sym typeface="Times New Roman"/>
              </a:defRPr>
            </a:pPr>
            <a:r>
              <a:t>The performance of the model is tested using the FakeAV dataset, and the model shows good performance with an accuracy of 97.66% and F1-score of 0.988, which proves that fine-grained articulation consistency is a reliable forensic feature for deepfake detection.</a:t>
            </a:r>
          </a:p>
          <a:p>
            <a:pPr marL="0" indent="0" defTabSz="402336">
              <a:spcBef>
                <a:spcPts val="0"/>
              </a:spcBef>
              <a:buSzTx/>
              <a:buNone/>
              <a:defRPr b="1" sz="3696">
                <a:latin typeface="+mj-lt"/>
                <a:ea typeface="+mj-ea"/>
                <a:cs typeface="+mj-cs"/>
                <a:sym typeface="Times New Roman"/>
              </a:defRPr>
            </a:pPr>
            <a:r>
              <a:t>Future Work</a:t>
            </a:r>
          </a:p>
          <a:p>
            <a:pPr marL="491744" indent="-491744" defTabSz="402336">
              <a:spcBef>
                <a:spcPts val="0"/>
              </a:spcBef>
              <a:defRPr sz="3696">
                <a:latin typeface="+mj-lt"/>
                <a:ea typeface="+mj-ea"/>
                <a:cs typeface="+mj-cs"/>
                <a:sym typeface="Times New Roman"/>
              </a:defRPr>
            </a:pPr>
            <a:r>
              <a:t>Future extensions of this work include:</a:t>
            </a:r>
          </a:p>
          <a:p>
            <a:pPr lvl="1" marL="1047750" indent="-488950" defTabSz="402336">
              <a:spcBef>
                <a:spcPts val="1000"/>
              </a:spcBef>
              <a:buSzPct val="50000"/>
              <a:buBlip>
                <a:blip r:embed="rId2"/>
              </a:buBlip>
              <a:defRPr sz="3696">
                <a:latin typeface="Times Roman"/>
                <a:ea typeface="Times Roman"/>
                <a:cs typeface="Times Roman"/>
                <a:sym typeface="Times Roman"/>
              </a:defRPr>
            </a:pPr>
            <a:r>
              <a:t>Evaluating the framework on additional large-scale datasets to study cross-dataset generalization.</a:t>
            </a:r>
          </a:p>
          <a:p>
            <a:pPr lvl="1" marL="1047750" indent="-488950" defTabSz="402336">
              <a:spcBef>
                <a:spcPts val="1000"/>
              </a:spcBef>
              <a:buSzPct val="50000"/>
              <a:buBlip>
                <a:blip r:embed="rId2"/>
              </a:buBlip>
              <a:defRPr sz="3696">
                <a:latin typeface="Times Roman"/>
                <a:ea typeface="Times Roman"/>
                <a:cs typeface="Times Roman"/>
                <a:sym typeface="Times Roman"/>
              </a:defRPr>
            </a:pPr>
            <a:r>
              <a:t>Enhancing temporal modeling for improved robustness under extreme compression or noise.</a:t>
            </a:r>
          </a:p>
          <a:p>
            <a:pPr lvl="1" marL="1047750" indent="-488950" defTabSz="402336">
              <a:spcBef>
                <a:spcPts val="1000"/>
              </a:spcBef>
              <a:buSzPct val="50000"/>
              <a:buBlip>
                <a:blip r:embed="rId2"/>
              </a:buBlip>
              <a:defRPr sz="3696">
                <a:latin typeface="Times Roman"/>
                <a:ea typeface="Times Roman"/>
                <a:cs typeface="Times Roman"/>
                <a:sym typeface="Times Roman"/>
              </a:defRPr>
            </a:pPr>
            <a:r>
              <a:t>Improving probability calibration to increase ROC-AUC performance.</a:t>
            </a:r>
          </a:p>
          <a:p>
            <a:pPr lvl="1" marL="1047750" indent="-488950" defTabSz="402336">
              <a:spcBef>
                <a:spcPts val="1000"/>
              </a:spcBef>
              <a:buSzPct val="50000"/>
              <a:buBlip>
                <a:blip r:embed="rId2"/>
              </a:buBlip>
              <a:defRPr sz="3696">
                <a:latin typeface="Times Roman"/>
                <a:ea typeface="Times Roman"/>
                <a:cs typeface="Times Roman"/>
                <a:sym typeface="Times Roman"/>
              </a:defRPr>
            </a:pPr>
            <a:r>
              <a:t>Exploring lightweight model variants for real-time deployment.</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Thank You"/>
          <p:cNvSpPr txBox="1"/>
          <p:nvPr>
            <p:ph type="title"/>
          </p:nvPr>
        </p:nvSpPr>
        <p:spPr>
          <a:prstGeom prst="rect">
            <a:avLst/>
          </a:prstGeom>
        </p:spPr>
        <p:txBody>
          <a:bodyPr/>
          <a:lstStyle>
            <a:lvl1pPr>
              <a:defRPr sz="11200"/>
            </a:lvl1pPr>
          </a:lstStyle>
          <a:p>
            <a:pPr/>
            <a:r>
              <a:t>Thank You</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Times New Roman"/>
        <a:ea typeface="Times New Roman"/>
        <a:cs typeface="Times New Roman"/>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Times New Roman"/>
        <a:ea typeface="Times New Roman"/>
        <a:cs typeface="Times New Roman"/>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